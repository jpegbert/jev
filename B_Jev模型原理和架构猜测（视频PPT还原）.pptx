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slides/slide17.xml" Type="http://schemas.openxmlformats.org/officeDocument/2006/relationships/slide"/><Relationship Id="rId26" Target="slides/slide18.xml" Type="http://schemas.openxmlformats.org/officeDocument/2006/relationships/slide"/><Relationship Id="rId27" Target="slides/slide19.xml" Type="http://schemas.openxmlformats.org/officeDocument/2006/relationships/slide"/><Relationship Id="rId28" Target="slides/slide20.xml" Type="http://schemas.openxmlformats.org/officeDocument/2006/relationships/slide"/><Relationship Id="rId29" Target="slides/slide21.xml" Type="http://schemas.openxmlformats.org/officeDocument/2006/relationships/slide"/><Relationship Id="rId3" Target="presProps.xml" Type="http://schemas.openxmlformats.org/officeDocument/2006/relationships/presProps"/><Relationship Id="rId30" Target="slides/slide22.xml" Type="http://schemas.openxmlformats.org/officeDocument/2006/relationships/slide"/><Relationship Id="rId31" Target="notesSlides/notesSlide1.xml" Type="http://schemas.openxmlformats.org/officeDocument/2006/relationships/notesSlide"/><Relationship Id="rId32" Target="notesSlides/notesSlide2.xml" Type="http://schemas.openxmlformats.org/officeDocument/2006/relationships/notesSlide"/><Relationship Id="rId33" Target="notesSlides/notesSlide3.xml" Type="http://schemas.openxmlformats.org/officeDocument/2006/relationships/notesSlide"/><Relationship Id="rId34" Target="notesSlides/notesSlide4.xml" Type="http://schemas.openxmlformats.org/officeDocument/2006/relationships/notesSlide"/><Relationship Id="rId35" Target="notesSlides/notesSlide5.xml" Type="http://schemas.openxmlformats.org/officeDocument/2006/relationships/notesSlide"/><Relationship Id="rId36" Target="notesSlides/notesSlide6.xml" Type="http://schemas.openxmlformats.org/officeDocument/2006/relationships/notesSlide"/><Relationship Id="rId37" Target="notesSlides/notesSlide7.xml" Type="http://schemas.openxmlformats.org/officeDocument/2006/relationships/notesSlide"/><Relationship Id="rId38" Target="notesSlides/notesSlide8.xml" Type="http://schemas.openxmlformats.org/officeDocument/2006/relationships/notesSlide"/><Relationship Id="rId39" Target="notesSlides/notesSlide9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10.xml" Type="http://schemas.openxmlformats.org/officeDocument/2006/relationships/notesSlide"/><Relationship Id="rId41" Target="notesSlides/notesSlide11.xml" Type="http://schemas.openxmlformats.org/officeDocument/2006/relationships/notesSlide"/><Relationship Id="rId42" Target="notesSlides/notesSlide12.xml" Type="http://schemas.openxmlformats.org/officeDocument/2006/relationships/notesSlide"/><Relationship Id="rId43" Target="notesSlides/notesSlide13.xml" Type="http://schemas.openxmlformats.org/officeDocument/2006/relationships/notesSlide"/><Relationship Id="rId44" Target="notesSlides/notesSlide14.xml" Type="http://schemas.openxmlformats.org/officeDocument/2006/relationships/notesSlide"/><Relationship Id="rId45" Target="notesSlides/notesSlide15.xml" Type="http://schemas.openxmlformats.org/officeDocument/2006/relationships/notesSlide"/><Relationship Id="rId46" Target="notesSlides/notesSlide16.xml" Type="http://schemas.openxmlformats.org/officeDocument/2006/relationships/notesSlide"/><Relationship Id="rId47" Target="notesSlides/notesSlide17.xml" Type="http://schemas.openxmlformats.org/officeDocument/2006/relationships/notesSlide"/><Relationship Id="rId48" Target="notesSlides/notesSlide18.xml" Type="http://schemas.openxmlformats.org/officeDocument/2006/relationships/notesSlide"/><Relationship Id="rId49" Target="notesSlides/notesSlide19.xml" Type="http://schemas.openxmlformats.org/officeDocument/2006/relationships/notesSlide"/><Relationship Id="rId50" Target="notesSlides/notesSlide20.xml" Type="http://schemas.openxmlformats.org/officeDocument/2006/relationships/notesSlide"/><Relationship Id="rId51" Target="notesSlides/notesSlide21.xml" Type="http://schemas.openxmlformats.org/officeDocument/2006/relationships/notesSlide"/><Relationship Id="rId52" Target="notesSlides/notesSlide22.xml" Type="http://schemas.openxmlformats.org/officeDocument/2006/relationships/notesSlide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今天分享爆火的Jev模型的原理和架构猜测。模型没有开源、没有论文，以下内容基于公开资料和实测效果推测，约80%准确度。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Jev目前没有开源，要用就上TypeSafe AI官网注册。它已经取消waitlist全面开放，但账号很紧张。官网同时发布了System One模型与Jev。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做Agent是一个ReAct循环：query进大模型，大模型调工具、做决策、输出结果。真正消耗token的是决策——用哪个工具、工具靠不靠谱。AI与人对话场景不多，更多是在做判断。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现在的大语言模型一个token一个token生成。我只想要一个简单决策，它却要生成括号、decision、冒号等一堆东西。每生成一个token都要把数据搬进显卡缓存再搬出，反复折腾，性能大幅下降。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LLM计算分Prefill预填充（计算密集）和Decode解码（访存密集）。为了输出一个false要做几十次Decode循环，每次都把庞大KV Cache从HBM显存搬到L2计算单元，主流算力卡L2只有几十MB。既慢又挤占并发吞吐。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作者受卡尼曼《思考快与慢》启发：人脑分System 1直觉高速潜意识（看到红灯踩刹车）和System 2深度思考（解微积分）。现在所有开源大模型全是System 2，拿爱因斯坦去踩红灯也要动很大脑，完全没必要。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TypeSafe AI创始人想做一个AI自己的System 1：直觉式、快速式，只回答是或否、A还是B，不输出文本。真实工程和Agent循环里95%是高频低复杂度的红绿灯判断，比如该不该重试、是否触发告警、分类A还是B。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这是Jev与各家模型在决策任务上的性能与成本对比。Jev的决策性能与GPT-5.6-Terra相当，但单次工作流成本（横轴）远低于GPT系列，便宜数百倍。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张图概括了Jev：它是给软件用的智能IF语句，而不是对话模型。输入State加Questions，经RLCD校准后输出带概率的结构化决策，而不是自由文本。高置信度自动执行Auto，中等置信度交给人或operator，低置信度再追问Ask。效率提升、用量下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Jev输入是任务prompt加上特定Schema约束，骨干可以是任意Transformer基座，如DeepSeek、千问，并不从零训练。它不逐token解码，而是取最后一个隐状态，通过分类头直接输出choice多选一、score打分、noul布尔三类结果。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choice示例：用户投诉被多扣五千、威胁24小时不退款就法院见。Schema里给出四个处理部门和判定标准，模型不生成文本，直接输出它认为最合适的类别legal_risk及概率0.9。类别可以任意动态增减，无需重新训练。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score示例：把1到5分各档的打分标准一并传给模型，它返回一个分数，比如4.3分，业务再据此做下一步决策。注意choice的选项彼此独立，像分部门；score的各档是同一维度的不同程度，像打绩效。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noul就是布尔判断：隐状态经过一个二分类分类头和sigmoid函数，直接输出true或false及概率，比如true 0.9、false 0.1。适用于任何只需要是或否的决策场景。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choice实现猜测：取最后一个隐状态，与每个选项的embedding做cosine相似度得到score，再过softmax归一化成概率。选项可随时增减，不用重新训练。本例legal_risk概率0.8最高，直接输出P1:0.8。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score与choice前半段一样得到各档概率，区别在最后：不是取最大概率档，而是把每档概率乘以对应分数做加权求和，得到一个连续分数，比如3.7分。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noul最简单：隐状态接一个二分类分类头，过sigmoid得到0到1的分数，比如true 0.9、false 0.1，超过阈值判true。不需要生成任何token。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Jev用RLCD这种强化学习的打分方法（UP主推测，口播也称简化版RCLR/RCD），核心不是让模型回答更像人，而是做置信度校准，让它输出的概率等于真实正确率，学会自我评价。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Jev像一个智能IF语句：输入STATE和QUESTIONS，内部IF JEV给出各分支概率，例如A分支93%、B分支4%、C分支3%。它输出的是结构化判断和概率，而不是一段文本，软件可直接消费。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RLCD训练时收集大量样本，按模型自报置信度分桶（如0-0.1、0.1-0.2……0.9-1），统计每桶的真实准确率，画成校准曲线。理想情况准确率与置信度一致，点落在对角线上；模型据此被校准到有"自知之明"。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分类准和自我评价准是两回事：分类准是考试考得高，自我评价准是估分估得准。Jev要的是后者——哪怕分类错了，它说"我只有25%把握"也得和真实正确率25%对齐，这样业务才知道何时该信、何时该转人工。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以CIFAR-100为例，1998年的LeNet校准误差44.9%，2016年的ResNet降到30.6%。模型越现代，预测置信度越接近真实正确率，自我评价越准。Jev把这种校准能力作为专门训练目标。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主流大模型概率失真、过度自信，三个原因：预训练目标只最大化下一token概率，不为业务判断正确率负责；泛化差距，预训练先验无法迁移到OOD新问题；后训练RLHF只奖励答案对错，模型学会用高置信度套取奖励。Jev的RLCD正是为纠正这一点而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png" Type="http://schemas.openxmlformats.org/officeDocument/2006/relationships/image"/><Relationship Id="rId3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6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7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png" Type="http://schemas.openxmlformats.org/officeDocument/2006/relationships/image"/><Relationship Id="rId3" Target="../notesSlides/notesSlide18.xml" Type="http://schemas.openxmlformats.org/officeDocument/2006/relationships/notesSlide"/></Relationships>
</file>

<file path=ppt/slides/_rels/slide1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5.png" Type="http://schemas.openxmlformats.org/officeDocument/2006/relationships/image"/><Relationship Id="rId3" Target="../notesSlides/notesSlide19.xml" Type="http://schemas.openxmlformats.org/officeDocument/2006/relationships/notesSlide"/></Relationships>
</file>

<file path=ppt/slides/_rels/slide2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0.xml" Type="http://schemas.openxmlformats.org/officeDocument/2006/relationships/notesSlide"/></Relationships>
</file>

<file path=ppt/slides/_rels/slide2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6.png" Type="http://schemas.openxmlformats.org/officeDocument/2006/relationships/image"/><Relationship Id="rId3" Target="../notesSlides/notesSlide21.xml" Type="http://schemas.openxmlformats.org/officeDocument/2006/relationships/notesSlide"/></Relationships>
</file>

<file path=ppt/slides/_rels/slide2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7.png" Type="http://schemas.openxmlformats.org/officeDocument/2006/relationships/image"/><Relationship Id="rId3" Target="../notesSlides/notesSlide22.xml" Type="http://schemas.openxmlformats.org/officeDocument/2006/relationships/notesSlide"/><Relationship Id="rId4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524000" y="2387600"/>
            <a:ext cx="9144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D22A2A"/>
                </a:solidFill>
                <a:latin typeface="微软雅黑"/>
                <a:ea typeface="微软雅黑"/>
                <a:cs typeface="微软雅黑"/>
                <a:sym typeface="微软雅黑"/>
              </a:rPr>
              <a:t>Jev 模型原理和架构猜测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11459" flipH="false" flipV="false">
            <a:off x="4191011" y="3524250"/>
            <a:ext cx="381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D22A2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 txBox="true"/>
          <p:nvPr/>
        </p:nvSpPr>
        <p:spPr>
          <a:xfrm rot="0" flipH="false" flipV="false">
            <a:off x="1524000" y="3759200"/>
            <a:ext cx="914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2200">
                <a:solidFill>
                  <a:srgbClr val="D22A2A"/>
                </a:solidFill>
                <a:latin typeface="微软雅黑"/>
                <a:ea typeface="微软雅黑"/>
                <a:cs typeface="微软雅黑"/>
                <a:sym typeface="微软雅黑"/>
              </a:rPr>
              <a:t>原理与架构推测 · 准确度约 80%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524000" y="5461000"/>
            <a:ext cx="914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969696"/>
                </a:solidFill>
                <a:latin typeface="微软雅黑"/>
                <a:ea typeface="微软雅黑"/>
                <a:cs typeface="微软雅黑"/>
                <a:sym typeface="微软雅黑"/>
              </a:rPr>
              <a:t>TypeSafe AI · System One · RLCD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762000" y="4318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1E1E1E"/>
                </a:solidFill>
                <a:latin typeface="微软雅黑"/>
                <a:ea typeface="微软雅黑"/>
                <a:cs typeface="微软雅黑"/>
                <a:sym typeface="微软雅黑"/>
              </a:rPr>
              <a:t>TypeSafe AI 官网：Jev 已开放注册（账号紧张）</a:t>
            </a:r>
            <a:endParaRPr lang="en-US" sz="1100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46" r="46" t="0" b="0"/>
          <a:stretch>
            <a:fillRect/>
          </a:stretch>
        </p:blipFill>
        <p:spPr>
          <a:xfrm rot="0" flipH="false" flipV="false">
            <a:off x="762000" y="1092200"/>
            <a:ext cx="10668000" cy="51054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4" id="4"/>
          <p:cNvSpPr txBox="true"/>
          <p:nvPr/>
        </p:nvSpPr>
        <p:spPr>
          <a:xfrm rot="0" flipH="false" flipV="false">
            <a:off x="762000" y="6324600"/>
            <a:ext cx="10668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828282"/>
                </a:solidFill>
                <a:latin typeface="微软雅黑"/>
                <a:ea typeface="微软雅黑"/>
                <a:cs typeface="微软雅黑"/>
                <a:sym typeface="微软雅黑"/>
              </a:rPr>
              <a:t>官网公告：NO MORE WAITLIST，TypeSafe is now open to everyone；并发布 System One 模型 Jev。模型未开源，仅能在官网注册使用。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635000" y="355600"/>
            <a:ext cx="10922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1E1E1E"/>
                </a:solidFill>
                <a:latin typeface="微软雅黑"/>
                <a:ea typeface="微软雅黑"/>
                <a:cs typeface="微软雅黑"/>
                <a:sym typeface="微软雅黑"/>
              </a:rPr>
              <a:t>Agent 的 ReAct 循环：大量算力都花在"决策"上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320800"/>
            <a:ext cx="1168400" cy="812800"/>
          </a:xfrm>
          <a:prstGeom prst="ellipse">
            <a:avLst/>
          </a:prstGeom>
          <a:solidFill>
            <a:srgbClr val="ECF1FF">
              <a:alpha val="100000"/>
            </a:srgbClr>
          </a:solidFill>
          <a:ln w="25400" cmpd="sng" cap="flat">
            <a:solidFill>
              <a:srgbClr val="2B65E8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E325A"/>
                </a:solidFill>
                <a:latin typeface="微软雅黑"/>
                <a:ea typeface="微软雅黑"/>
                <a:cs typeface="微软雅黑"/>
                <a:sym typeface="微软雅黑"/>
              </a:rPr>
              <a:t>User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2336800" y="1422400"/>
            <a:ext cx="1016000" cy="609600"/>
          </a:xfrm>
          <a:prstGeom prst="roundRect">
            <a:avLst>
              <a:gd name="adj" fmla="val 12500"/>
            </a:avLst>
          </a:prstGeom>
          <a:solidFill>
            <a:srgbClr val="FFF7D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78500A"/>
                </a:solidFill>
                <a:latin typeface="微软雅黑"/>
                <a:ea typeface="微软雅黑"/>
                <a:cs typeface="微软雅黑"/>
                <a:sym typeface="微软雅黑"/>
              </a:rPr>
              <a:t>Query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3911600" y="1168400"/>
            <a:ext cx="2108200" cy="1168400"/>
          </a:xfrm>
          <a:prstGeom prst="roundRect">
            <a:avLst>
              <a:gd name="adj" fmla="val 10869"/>
            </a:avLst>
          </a:prstGeom>
          <a:solidFill>
            <a:srgbClr val="FFFFFF">
              <a:alpha val="100000"/>
            </a:srgbClr>
          </a:solidFill>
          <a:ln w="38100" cmpd="sng" cap="flat">
            <a:solidFill>
              <a:srgbClr val="D22A28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1E1E1E"/>
                </a:solidFill>
                <a:latin typeface="微软雅黑"/>
                <a:ea typeface="微软雅黑"/>
                <a:cs typeface="微软雅黑"/>
                <a:sym typeface="微软雅黑"/>
              </a:rPr>
              <a:t>LLM</a:t>
            </a:r>
            <a:r>
              <a:rPr lang="en-US" b="false" i="false" strike="noStrike" u="none" sz="1400">
                <a:solidFill>
                  <a:srgbClr val="1E1E1E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endParaRPr lang="en-US" sz="1100"/>
          </a:p>
          <a:p>
            <a:pPr algn="ctr" marL="0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1E1E1E"/>
                </a:solidFill>
                <a:latin typeface="微软雅黑"/>
                <a:ea typeface="微软雅黑"/>
                <a:cs typeface="微软雅黑"/>
                <a:sym typeface="微软雅黑"/>
              </a:rPr>
              <a:t>(Reason)</a:t>
            </a:r>
          </a:p>
          <a:p>
            <a:pPr algn="ctr" marL="0" indent="0">
              <a:lnSpc>
                <a:spcPct val="108333"/>
              </a:lnSpc>
            </a:pPr>
            <a:r>
              <a:rPr lang="en-US" b="true" i="false" strike="noStrike" u="none" sz="1400">
                <a:solidFill>
                  <a:srgbClr val="D22A28"/>
                </a:solidFill>
                <a:latin typeface="微软雅黑"/>
                <a:ea typeface="微软雅黑"/>
                <a:cs typeface="微软雅黑"/>
                <a:sym typeface="微软雅黑"/>
              </a:rPr>
              <a:t>决策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112000" y="1270000"/>
            <a:ext cx="1270000" cy="965200"/>
          </a:xfrm>
          <a:prstGeom prst="ellipse">
            <a:avLst/>
          </a:prstGeom>
          <a:solidFill>
            <a:srgbClr val="ECF1FF">
              <a:alpha val="100000"/>
            </a:srgbClr>
          </a:solidFill>
          <a:ln w="25400" cmpd="sng" cap="flat">
            <a:solidFill>
              <a:srgbClr val="2B65E8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E325A"/>
                </a:solidFill>
                <a:latin typeface="微软雅黑"/>
                <a:ea typeface="微软雅黑"/>
                <a:cs typeface="微软雅黑"/>
                <a:sym typeface="微软雅黑"/>
              </a:rPr>
              <a:t>Tools / Action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107394" flipH="false" flipV="false">
            <a:off x="1930499" y="1720850"/>
            <a:ext cx="40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B65E8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name="Connector 8" id="8"/>
          <p:cNvCxnSpPr/>
          <p:nvPr/>
        </p:nvCxnSpPr>
        <p:spPr>
          <a:xfrm rot="-78117" flipH="false" flipV="false">
            <a:off x="3352872" y="1720850"/>
            <a:ext cx="558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B65E8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name="Connector 9" id="9"/>
          <p:cNvCxnSpPr/>
          <p:nvPr/>
        </p:nvCxnSpPr>
        <p:spPr>
          <a:xfrm rot="-39971" flipH="false" flipV="false">
            <a:off x="6019837" y="1746250"/>
            <a:ext cx="1092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B65E8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2336800" y="3098800"/>
            <a:ext cx="1016000" cy="609600"/>
          </a:xfrm>
          <a:prstGeom prst="roundRect">
            <a:avLst>
              <a:gd name="adj" fmla="val 12500"/>
            </a:avLst>
          </a:prstGeom>
          <a:solidFill>
            <a:srgbClr val="E0F2E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145032"/>
                </a:solidFill>
                <a:latin typeface="微软雅黑"/>
                <a:ea typeface="微软雅黑"/>
                <a:cs typeface="微软雅黑"/>
                <a:sym typeface="微软雅黑"/>
              </a:rPr>
              <a:t>Response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911600" y="2997200"/>
            <a:ext cx="2108200" cy="762000"/>
          </a:xfrm>
          <a:prstGeom prst="roundRect">
            <a:avLst>
              <a:gd name="adj" fmla="val 13333"/>
            </a:avLst>
          </a:prstGeom>
          <a:solidFill>
            <a:srgbClr val="2B65E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LLM Generate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112000" y="2921000"/>
            <a:ext cx="1270000" cy="914400"/>
          </a:xfrm>
          <a:prstGeom prst="ellipse">
            <a:avLst/>
          </a:prstGeom>
          <a:solidFill>
            <a:srgbClr val="ECF1FF">
              <a:alpha val="100000"/>
            </a:srgbClr>
          </a:solidFill>
          <a:ln w="25400" cmpd="sng" cap="flat">
            <a:solidFill>
              <a:srgbClr val="2B65E8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1E325A"/>
                </a:solidFill>
                <a:latin typeface="微软雅黑"/>
                <a:ea typeface="微软雅黑"/>
                <a:cs typeface="微软雅黑"/>
                <a:sym typeface="微软雅黑"/>
              </a:rPr>
              <a:t>Environment / Result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10760028" flipH="false" flipV="false">
            <a:off x="6019763" y="3371850"/>
            <a:ext cx="1092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B65E8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name="Connector 14" id="14"/>
          <p:cNvCxnSpPr/>
          <p:nvPr/>
        </p:nvCxnSpPr>
        <p:spPr>
          <a:xfrm rot="10721882" flipH="false" flipV="false">
            <a:off x="3352728" y="3397250"/>
            <a:ext cx="558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B65E8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name="Connector 15" id="15"/>
          <p:cNvCxnSpPr/>
          <p:nvPr/>
        </p:nvCxnSpPr>
        <p:spPr>
          <a:xfrm rot="-5468745" flipH="false" flipV="false">
            <a:off x="4648200" y="2673287"/>
            <a:ext cx="63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B65E8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16" id="16"/>
          <p:cNvSpPr/>
          <p:nvPr/>
        </p:nvSpPr>
        <p:spPr>
          <a:xfrm rot="0" flipH="false" flipV="false">
            <a:off x="635000" y="4191000"/>
            <a:ext cx="10922000" cy="2311400"/>
          </a:xfrm>
          <a:prstGeom prst="roundRect">
            <a:avLst>
              <a:gd name="adj" fmla="val 5494"/>
            </a:avLst>
          </a:prstGeom>
          <a:solidFill>
            <a:srgbClr val="F8F9FB">
              <a:alpha val="100000"/>
            </a:srgbClr>
          </a:solidFill>
          <a:ln w="12700" cmpd="sng" cap="flat">
            <a:solidFill>
              <a:srgbClr val="E1E4EA">
                <a:alpha val="100000"/>
              </a:srgbClr>
            </a:solidFill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282828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282828"/>
                </a:solidFill>
                <a:latin typeface="微软雅黑"/>
                <a:ea typeface="微软雅黑"/>
                <a:cs typeface="微软雅黑"/>
                <a:sym typeface="微软雅黑"/>
              </a:rPr>
              <a:t>在这个典型的 Re-Act 循环中，AI 需要不断地做极其基础的判断：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282828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282828"/>
                </a:solidFill>
                <a:latin typeface="微软雅黑"/>
                <a:ea typeface="微软雅黑"/>
                <a:cs typeface="微软雅黑"/>
                <a:sym typeface="微软雅黑"/>
              </a:rPr>
              <a:t>· "这个 CDM 节点是可点击的购买按钮吗？" </a:t>
            </a:r>
            <a:r>
              <a:rPr lang="en-US" b="false" i="false" strike="noStrike" u="none" sz="1400">
                <a:solidFill>
                  <a:srgbClr val="D22A28"/>
                </a:solidFill>
                <a:latin typeface="微软雅黑"/>
                <a:ea typeface="微软雅黑"/>
                <a:cs typeface="微软雅黑"/>
                <a:sym typeface="微软雅黑"/>
              </a:rPr>
              <a:t>（true / false）</a:t>
            </a:r>
            <a:r>
              <a:rPr lang="en-US" b="false" i="false" strike="noStrike" u="none" sz="1400">
                <a:solidFill>
                  <a:srgbClr val="282828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282828"/>
                </a:solidFill>
                <a:latin typeface="微软雅黑"/>
                <a:ea typeface="微软雅黑"/>
                <a:cs typeface="微软雅黑"/>
                <a:sym typeface="微软雅黑"/>
              </a:rPr>
              <a:t>· "我现在应该调用 Google Search API，还是 Database Query API？" </a:t>
            </a:r>
            <a:r>
              <a:rPr lang="en-US" b="false" i="false" strike="noStrike" u="none" sz="1400">
                <a:solidFill>
                  <a:srgbClr val="D22A28"/>
                </a:solidFill>
                <a:latin typeface="微软雅黑"/>
                <a:ea typeface="微软雅黑"/>
                <a:cs typeface="微软雅黑"/>
                <a:sym typeface="微软雅黑"/>
              </a:rPr>
              <a:t>（Choice A or B）</a:t>
            </a:r>
            <a:r>
              <a:rPr lang="en-US" b="false" i="false" strike="noStrike" u="none" sz="1400">
                <a:solidFill>
                  <a:srgbClr val="282828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282828"/>
                </a:solidFill>
                <a:latin typeface="微软雅黑"/>
                <a:ea typeface="微软雅黑"/>
                <a:cs typeface="微软雅黑"/>
                <a:sym typeface="微软雅黑"/>
              </a:rPr>
              <a:t>· "用户的这句话包含极端的危险指令吗？" </a:t>
            </a:r>
            <a:r>
              <a:rPr lang="en-US" b="false" i="false" strike="noStrike" u="none" sz="1400">
                <a:solidFill>
                  <a:srgbClr val="D22A28"/>
                </a:solidFill>
                <a:latin typeface="微软雅黑"/>
                <a:ea typeface="微软雅黑"/>
                <a:cs typeface="微软雅黑"/>
                <a:sym typeface="微软雅黑"/>
              </a:rPr>
              <a:t>（0-1 连续概率）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762000" y="381000"/>
            <a:ext cx="10668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1E1E1E"/>
                </a:solidFill>
                <a:latin typeface="微软雅黑"/>
                <a:ea typeface="微软雅黑"/>
                <a:cs typeface="微软雅黑"/>
                <a:sym typeface="微软雅黑"/>
              </a:rPr>
              <a:t>LLM 是如何做的？——逐 Token 解码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762000" y="965200"/>
            <a:ext cx="10668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5A5A5A"/>
                </a:solidFill>
                <a:latin typeface="微软雅黑"/>
                <a:ea typeface="微软雅黑"/>
                <a:cs typeface="微软雅黑"/>
                <a:sym typeface="微软雅黑"/>
              </a:rPr>
              <a:t>LLM 会在 Decode 阶段一个 Token 接着一个 Token 往外"蹦字"：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939800" y="1625600"/>
            <a:ext cx="558800" cy="533400"/>
          </a:xfrm>
          <a:prstGeom prst="roundRect">
            <a:avLst>
              <a:gd name="adj" fmla="val 14285"/>
            </a:avLst>
          </a:prstGeom>
          <a:solidFill>
            <a:srgbClr val="EEF2FA">
              <a:alpha val="100000"/>
            </a:srgbClr>
          </a:solidFill>
          <a:ln w="12700" cmpd="sng" cap="flat">
            <a:solidFill>
              <a:srgbClr val="B4BED2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282C3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676400" y="1625600"/>
            <a:ext cx="1219200" cy="533400"/>
          </a:xfrm>
          <a:prstGeom prst="roundRect">
            <a:avLst>
              <a:gd name="adj" fmla="val 14285"/>
            </a:avLst>
          </a:prstGeom>
          <a:solidFill>
            <a:srgbClr val="DBEAFE">
              <a:alpha val="100000"/>
            </a:srgbClr>
          </a:solidFill>
          <a:ln w="12700" cmpd="sng" cap="flat">
            <a:solidFill>
              <a:srgbClr val="2B65E8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1E40AF"/>
                </a:solidFill>
                <a:latin typeface="Consolas"/>
                <a:ea typeface="Consolas"/>
                <a:cs typeface="Consolas"/>
                <a:sym typeface="Consolas"/>
              </a:rPr>
              <a:t>"decision"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124200" y="1625600"/>
            <a:ext cx="508000" cy="533400"/>
          </a:xfrm>
          <a:prstGeom prst="roundRect">
            <a:avLst>
              <a:gd name="adj" fmla="val 15000"/>
            </a:avLst>
          </a:prstGeom>
          <a:solidFill>
            <a:srgbClr val="EEF2FA">
              <a:alpha val="100000"/>
            </a:srgbClr>
          </a:solidFill>
          <a:ln w="12700" cmpd="sng" cap="flat">
            <a:solidFill>
              <a:srgbClr val="B4BED2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282C34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3860800" y="1625600"/>
            <a:ext cx="889000" cy="533400"/>
          </a:xfrm>
          <a:prstGeom prst="roundRect">
            <a:avLst>
              <a:gd name="adj" fmla="val 14285"/>
            </a:avLst>
          </a:prstGeom>
          <a:solidFill>
            <a:srgbClr val="DBEAFE">
              <a:alpha val="100000"/>
            </a:srgbClr>
          </a:solidFill>
          <a:ln w="12700" cmpd="sng" cap="flat">
            <a:solidFill>
              <a:srgbClr val="2B65E8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1E40AF"/>
                </a:solidFill>
                <a:latin typeface="Consolas"/>
                <a:ea typeface="Consolas"/>
                <a:cs typeface="Consolas"/>
                <a:sym typeface="Consolas"/>
              </a:rPr>
              <a:t>"false"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978400" y="1625600"/>
            <a:ext cx="508000" cy="533400"/>
          </a:xfrm>
          <a:prstGeom prst="roundRect">
            <a:avLst>
              <a:gd name="adj" fmla="val 15000"/>
            </a:avLst>
          </a:prstGeom>
          <a:solidFill>
            <a:srgbClr val="EEF2FA">
              <a:alpha val="100000"/>
            </a:srgbClr>
          </a:solidFill>
          <a:ln w="12700" cmpd="sng" cap="flat">
            <a:solidFill>
              <a:srgbClr val="B4BED2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282C34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715000" y="1625600"/>
            <a:ext cx="1168400" cy="533400"/>
          </a:xfrm>
          <a:prstGeom prst="roundRect">
            <a:avLst>
              <a:gd name="adj" fmla="val 14285"/>
            </a:avLst>
          </a:prstGeom>
          <a:solidFill>
            <a:srgbClr val="DBEAFE">
              <a:alpha val="100000"/>
            </a:srgbClr>
          </a:solidFill>
          <a:ln w="12700" cmpd="sng" cap="flat">
            <a:solidFill>
              <a:srgbClr val="2B65E8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1E40AF"/>
                </a:solidFill>
                <a:latin typeface="Consolas"/>
                <a:ea typeface="Consolas"/>
                <a:cs typeface="Consolas"/>
                <a:sym typeface="Consolas"/>
              </a:rPr>
              <a:t>"reason"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112000" y="1625600"/>
            <a:ext cx="508000" cy="533400"/>
          </a:xfrm>
          <a:prstGeom prst="roundRect">
            <a:avLst>
              <a:gd name="adj" fmla="val 15000"/>
            </a:avLst>
          </a:prstGeom>
          <a:solidFill>
            <a:srgbClr val="EEF2FA">
              <a:alpha val="100000"/>
            </a:srgbClr>
          </a:solidFill>
          <a:ln w="12700" cmpd="sng" cap="flat">
            <a:solidFill>
              <a:srgbClr val="B4BED2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282C34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848600" y="1625600"/>
            <a:ext cx="762000" cy="533400"/>
          </a:xfrm>
          <a:prstGeom prst="roundRect">
            <a:avLst>
              <a:gd name="adj" fmla="val 14285"/>
            </a:avLst>
          </a:prstGeom>
          <a:solidFill>
            <a:srgbClr val="EEF2FA">
              <a:alpha val="100000"/>
            </a:srgbClr>
          </a:solidFill>
          <a:ln w="12700" cmpd="sng" cap="flat">
            <a:solidFill>
              <a:srgbClr val="B4BED2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282C34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762000" y="2540000"/>
            <a:ext cx="152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5A5A5A"/>
                </a:solidFill>
                <a:latin typeface="微软雅黑"/>
                <a:ea typeface="微软雅黑"/>
                <a:cs typeface="微软雅黑"/>
                <a:sym typeface="微软雅黑"/>
              </a:rPr>
              <a:t>Step 1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762000" y="3048000"/>
            <a:ext cx="152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5A5A5A"/>
                </a:solidFill>
                <a:latin typeface="微软雅黑"/>
                <a:ea typeface="微软雅黑"/>
                <a:cs typeface="微软雅黑"/>
                <a:sym typeface="微软雅黑"/>
              </a:rPr>
              <a:t>Step 2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762000" y="3556000"/>
            <a:ext cx="152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5A5A5A"/>
                </a:solidFill>
                <a:latin typeface="微软雅黑"/>
                <a:ea typeface="微软雅黑"/>
                <a:cs typeface="微软雅黑"/>
                <a:sym typeface="微软雅黑"/>
              </a:rPr>
              <a:t>Step 3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762000" y="4064000"/>
            <a:ext cx="152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5A5A5A"/>
                </a:solidFill>
                <a:latin typeface="微软雅黑"/>
                <a:ea typeface="微软雅黑"/>
                <a:cs typeface="微软雅黑"/>
                <a:sym typeface="微软雅黑"/>
              </a:rPr>
              <a:t>Step 1000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9271000" y="2540000"/>
            <a:ext cx="2540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8333"/>
              </a:lnSpc>
              <a:defRPr/>
            </a:pPr>
            <a:r>
              <a:rPr lang="en-US" b="false" i="false" strike="noStrike" u="none" sz="1300">
                <a:solidFill>
                  <a:srgbClr val="787878"/>
                </a:solidFill>
                <a:latin typeface="微软雅黑"/>
                <a:ea typeface="微软雅黑"/>
                <a:cs typeface="微软雅黑"/>
                <a:sym typeface="微软雅黑"/>
              </a:rPr>
              <a:t>每次都把 KV Cache</a:t>
            </a:r>
            <a:endParaRPr lang="en-US" sz="1100"/>
          </a:p>
          <a:p>
            <a:pPr algn="l" marL="0" indent="0">
              <a:lnSpc>
                <a:spcPct val="158333"/>
              </a:lnSpc>
            </a:pPr>
            <a:r>
              <a:rPr lang="en-US" b="false" i="false" strike="noStrike" u="none" sz="1300">
                <a:solidFill>
                  <a:srgbClr val="787878"/>
                </a:solidFill>
                <a:latin typeface="微软雅黑"/>
                <a:ea typeface="微软雅黑"/>
                <a:cs typeface="微软雅黑"/>
                <a:sym typeface="微软雅黑"/>
              </a:rPr>
              <a:t>在显存与计算单元间</a:t>
            </a:r>
          </a:p>
          <a:p>
            <a:pPr algn="l" marL="0" indent="0">
              <a:lnSpc>
                <a:spcPct val="158333"/>
              </a:lnSpc>
            </a:pPr>
            <a:r>
              <a:rPr lang="en-US" b="false" i="false" strike="noStrike" u="none" sz="1300">
                <a:solidFill>
                  <a:srgbClr val="787878"/>
                </a:solidFill>
                <a:latin typeface="微软雅黑"/>
                <a:ea typeface="微软雅黑"/>
                <a:cs typeface="微软雅黑"/>
                <a:sym typeface="微软雅黑"/>
              </a:rPr>
              <a:t>反复搬运</a:t>
            </a:r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2286000" y="3098800"/>
            <a:ext cx="50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B4B4B4"/>
                </a:solidFill>
                <a:latin typeface="微软雅黑"/>
                <a:ea typeface="微软雅黑"/>
                <a:cs typeface="微软雅黑"/>
                <a:sym typeface="微软雅黑"/>
              </a:rPr>
              <a:t>···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2286000" y="3606800"/>
            <a:ext cx="50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B4B4B4"/>
                </a:solidFill>
                <a:latin typeface="微软雅黑"/>
                <a:ea typeface="微软雅黑"/>
                <a:cs typeface="微软雅黑"/>
                <a:sym typeface="微软雅黑"/>
              </a:rPr>
              <a:t>···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62000" y="4902200"/>
            <a:ext cx="10668000" cy="1168400"/>
          </a:xfrm>
          <a:prstGeom prst="roundRect">
            <a:avLst>
              <a:gd name="adj" fmla="val 10869"/>
            </a:avLst>
          </a:prstGeom>
          <a:solidFill>
            <a:srgbClr val="FDEBEB">
              <a:alpha val="100000"/>
            </a:srgbClr>
          </a:solidFill>
          <a:ln w="12700" cmpd="sng" cap="flat">
            <a:solidFill>
              <a:srgbClr val="D22A28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1066800" y="5080000"/>
            <a:ext cx="10160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700">
                <a:solidFill>
                  <a:srgbClr val="D22A28"/>
                </a:solidFill>
                <a:latin typeface="微软雅黑"/>
                <a:ea typeface="微软雅黑"/>
                <a:cs typeface="微软雅黑"/>
                <a:sym typeface="微软雅黑"/>
              </a:rPr>
              <a:t>其实只想要一个简单决策，却要生成一堆 Token；每生成一个 Token 都要往返搬运一次数据。</a:t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1700">
                <a:solidFill>
                  <a:srgbClr val="D22A28"/>
                </a:solidFill>
                <a:latin typeface="微软雅黑"/>
                <a:ea typeface="微软雅黑"/>
                <a:cs typeface="微软雅黑"/>
                <a:sym typeface="微软雅黑"/>
              </a:rPr>
              <a:t>生成 1000 个 tokens，需要进行 1000 次前向传播。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635000" y="381000"/>
            <a:ext cx="10922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1E1E1E"/>
                </a:solidFill>
                <a:latin typeface="微软雅黑"/>
                <a:ea typeface="微软雅黑"/>
                <a:cs typeface="微软雅黑"/>
                <a:sym typeface="微软雅黑"/>
              </a:rPr>
              <a:t>痛点在于：Prefill 阶段的时间惩罚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635000" y="1168400"/>
            <a:ext cx="5969000" cy="482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500">
                <a:solidFill>
                  <a:srgbClr val="282828"/>
                </a:solidFill>
                <a:latin typeface="微软雅黑"/>
                <a:ea typeface="微软雅黑"/>
                <a:cs typeface="微软雅黑"/>
                <a:sym typeface="微软雅黑"/>
              </a:rPr>
              <a:t>LLM 的计算可以分为两个阶段：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500">
                <a:solidFill>
                  <a:srgbClr val="282828"/>
                </a:solidFill>
                <a:latin typeface="微软雅黑"/>
                <a:ea typeface="微软雅黑"/>
                <a:cs typeface="微软雅黑"/>
                <a:sym typeface="微软雅黑"/>
              </a:rPr>
              <a:t>· </a:t>
            </a:r>
            <a:r>
              <a:rPr lang="en-US" b="true" i="false" strike="noStrike" u="none" sz="1500">
                <a:solidFill>
                  <a:srgbClr val="282828"/>
                </a:solidFill>
                <a:latin typeface="微软雅黑"/>
                <a:ea typeface="微软雅黑"/>
                <a:cs typeface="微软雅黑"/>
                <a:sym typeface="微软雅黑"/>
              </a:rPr>
              <a:t>Prefill（预填充阶段）</a:t>
            </a:r>
            <a:r>
              <a:rPr lang="en-US" b="false" i="false" strike="noStrike" u="none" sz="1500">
                <a:solidFill>
                  <a:srgbClr val="282828"/>
                </a:solidFill>
                <a:latin typeface="微软雅黑"/>
                <a:ea typeface="微软雅黑"/>
                <a:cs typeface="微软雅黑"/>
                <a:sym typeface="微软雅黑"/>
              </a:rPr>
              <a:t>：计算密集型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500">
                <a:solidFill>
                  <a:srgbClr val="282828"/>
                </a:solidFill>
                <a:latin typeface="微软雅黑"/>
                <a:ea typeface="微软雅黑"/>
                <a:cs typeface="微软雅黑"/>
                <a:sym typeface="微软雅黑"/>
              </a:rPr>
              <a:t>· </a:t>
            </a:r>
            <a:r>
              <a:rPr lang="en-US" b="true" i="false" strike="noStrike" u="none" sz="1500">
                <a:solidFill>
                  <a:srgbClr val="282828"/>
                </a:solidFill>
                <a:latin typeface="微软雅黑"/>
                <a:ea typeface="微软雅黑"/>
                <a:cs typeface="微软雅黑"/>
                <a:sym typeface="微软雅黑"/>
              </a:rPr>
              <a:t>Decode（解码阶段）</a:t>
            </a:r>
            <a:r>
              <a:rPr lang="en-US" b="false" i="false" strike="noStrike" u="none" sz="1500">
                <a:solidFill>
                  <a:srgbClr val="282828"/>
                </a:solidFill>
                <a:latin typeface="微软雅黑"/>
                <a:ea typeface="微软雅黑"/>
                <a:cs typeface="微软雅黑"/>
                <a:sym typeface="微软雅黑"/>
              </a:rPr>
              <a:t>：访存密集型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500">
                <a:solidFill>
                  <a:srgbClr val="282828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500">
                <a:solidFill>
                  <a:srgbClr val="282828"/>
                </a:solidFill>
                <a:latin typeface="微软雅黑"/>
                <a:ea typeface="微软雅黑"/>
                <a:cs typeface="微软雅黑"/>
                <a:sym typeface="微软雅黑"/>
              </a:rPr>
              <a:t>为了一个 </a:t>
            </a:r>
            <a:r>
              <a:rPr lang="en-US" b="true" i="false" strike="noStrike" u="none" sz="1500">
                <a:solidFill>
                  <a:srgbClr val="D22A28"/>
                </a:solidFill>
                <a:latin typeface="微软雅黑"/>
                <a:ea typeface="微软雅黑"/>
                <a:cs typeface="微软雅黑"/>
                <a:sym typeface="微软雅黑"/>
              </a:rPr>
              <a:t>false</a:t>
            </a:r>
            <a:r>
              <a:rPr lang="en-US" b="false" i="false" strike="noStrike" u="none" sz="1500">
                <a:solidFill>
                  <a:srgbClr val="282828"/>
                </a:solidFill>
                <a:latin typeface="微软雅黑"/>
                <a:ea typeface="微软雅黑"/>
                <a:cs typeface="微软雅黑"/>
                <a:sym typeface="微软雅黑"/>
              </a:rPr>
              <a:t>，却要强迫模型进行几十次 Decode 循环；每次循环都要把庞大的 </a:t>
            </a:r>
            <a:r>
              <a:rPr lang="en-US" b="true" i="false" strike="noStrike" u="none" sz="1500">
                <a:solidFill>
                  <a:srgbClr val="282828"/>
                </a:solidFill>
                <a:latin typeface="微软雅黑"/>
                <a:ea typeface="微软雅黑"/>
                <a:cs typeface="微软雅黑"/>
                <a:sym typeface="微软雅黑"/>
              </a:rPr>
              <a:t>KV Cache</a:t>
            </a:r>
            <a:r>
              <a:rPr lang="en-US" b="false" i="false" strike="noStrike" u="none" sz="1500">
                <a:solidFill>
                  <a:srgbClr val="282828"/>
                </a:solidFill>
                <a:latin typeface="微软雅黑"/>
                <a:ea typeface="微软雅黑"/>
                <a:cs typeface="微软雅黑"/>
                <a:sym typeface="微软雅黑"/>
              </a:rPr>
              <a:t> 从显存搬到计算单元。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500">
                <a:solidFill>
                  <a:srgbClr val="282828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500">
                <a:solidFill>
                  <a:srgbClr val="282828"/>
                </a:solidFill>
                <a:latin typeface="微软雅黑"/>
                <a:ea typeface="微软雅黑"/>
                <a:cs typeface="微软雅黑"/>
                <a:sym typeface="微软雅黑"/>
              </a:rPr>
              <a:t>不仅慢，而且极大地挤占了并发吞吐量（</a:t>
            </a:r>
            <a:r>
              <a:rPr lang="en-US" b="true" i="false" strike="noStrike" u="none" sz="1500">
                <a:solidFill>
                  <a:srgbClr val="282828"/>
                </a:solidFill>
                <a:latin typeface="微软雅黑"/>
                <a:ea typeface="微软雅黑"/>
                <a:cs typeface="微软雅黑"/>
                <a:sym typeface="微软雅黑"/>
              </a:rPr>
              <a:t>Throughput</a:t>
            </a:r>
            <a:r>
              <a:rPr lang="en-US" b="false" i="false" strike="noStrike" u="none" sz="1500">
                <a:solidFill>
                  <a:srgbClr val="282828"/>
                </a:solidFill>
                <a:latin typeface="微软雅黑"/>
                <a:ea typeface="微软雅黑"/>
                <a:cs typeface="微软雅黑"/>
                <a:sym typeface="微软雅黑"/>
              </a:rPr>
              <a:t>）。</a:t>
            </a:r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7112000" y="1168400"/>
            <a:ext cx="4318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5A5A5A"/>
                </a:solidFill>
                <a:latin typeface="微软雅黑"/>
                <a:ea typeface="微软雅黑"/>
                <a:cs typeface="微软雅黑"/>
                <a:sym typeface="微软雅黑"/>
              </a:rPr>
              <a:t>主算力卡 L2 容量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188200" y="1701800"/>
            <a:ext cx="1905000" cy="1168400"/>
          </a:xfrm>
          <a:prstGeom prst="roundRect">
            <a:avLst>
              <a:gd name="adj" fmla="val 8695"/>
            </a:avLst>
          </a:prstGeom>
          <a:solidFill>
            <a:srgbClr val="2B65E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HBM</a:t>
            </a:r>
            <a:endParaRPr lang="en-US" sz="1100"/>
          </a:p>
          <a:p>
            <a:pPr algn="ctr" marL="0" indent="0">
              <a:lnSpc>
                <a:spcPct val="108333"/>
              </a:lnSpc>
            </a:pPr>
            <a:r>
              <a:rPr lang="en-US" b="true" i="false" strike="noStrike" u="none" sz="13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KV 数据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779000" y="1701800"/>
            <a:ext cx="1651000" cy="1168400"/>
          </a:xfrm>
          <a:prstGeom prst="roundRect">
            <a:avLst>
              <a:gd name="adj" fmla="val 8695"/>
            </a:avLst>
          </a:prstGeom>
          <a:solidFill>
            <a:srgbClr val="26A67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L2 Cache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74721" flipH="false" flipV="false">
            <a:off x="9144069" y="2178050"/>
            <a:ext cx="584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D22A28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name="Connector 8" id="8"/>
          <p:cNvCxnSpPr/>
          <p:nvPr/>
        </p:nvCxnSpPr>
        <p:spPr>
          <a:xfrm rot="10725278" flipH="false" flipV="false">
            <a:off x="9143931" y="2482850"/>
            <a:ext cx="584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D22A28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9" id="9"/>
          <p:cNvSpPr txBox="true"/>
          <p:nvPr/>
        </p:nvSpPr>
        <p:spPr>
          <a:xfrm rot="0" flipH="false" flipV="false">
            <a:off x="7188200" y="2997200"/>
            <a:ext cx="42418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D22A28"/>
                </a:solidFill>
                <a:latin typeface="微软雅黑"/>
                <a:ea typeface="微软雅黑"/>
                <a:cs typeface="微软雅黑"/>
                <a:sym typeface="微软雅黑"/>
              </a:rPr>
              <a:t>100 次前向往返搬运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188200" y="3530600"/>
            <a:ext cx="4241800" cy="1905000"/>
          </a:xfrm>
          <a:prstGeom prst="roundRect">
            <a:avLst>
              <a:gd name="adj" fmla="val 5333"/>
            </a:avLst>
          </a:prstGeom>
          <a:solidFill>
            <a:srgbClr val="F8F9FB">
              <a:alpha val="100000"/>
            </a:srgbClr>
          </a:solidFill>
          <a:ln w="12700" cmpd="sng" cap="flat">
            <a:solidFill>
              <a:srgbClr val="E1E4EA">
                <a:alpha val="100000"/>
              </a:srgbClr>
            </a:solidFill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marL="0" indent="0">
              <a:lnSpc>
                <a:spcPct val="141666"/>
              </a:lnSpc>
              <a:defRPr/>
            </a:pPr>
            <a:r>
              <a:rPr lang="en-US" b="false" i="false" strike="noStrike" u="none" sz="1500">
                <a:solidFill>
                  <a:srgbClr val="282828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lang="en-US" sz="1100"/>
          </a:p>
          <a:p>
            <a:pPr algn="ctr" marL="0" indent="0">
              <a:lnSpc>
                <a:spcPct val="141666"/>
              </a:lnSpc>
            </a:pPr>
            <a:r>
              <a:rPr lang="en-US" b="false" i="false" strike="noStrike" u="none" sz="1500">
                <a:solidFill>
                  <a:srgbClr val="282828"/>
                </a:solidFill>
                <a:latin typeface="Consolas"/>
                <a:ea typeface="Consolas"/>
                <a:cs typeface="Consolas"/>
                <a:sym typeface="Consolas"/>
              </a:rPr>
              <a:t>A100 40G：L2 = 40MB</a:t>
            </a:r>
          </a:p>
          <a:p>
            <a:pPr algn="ctr" marL="0" indent="0">
              <a:lnSpc>
                <a:spcPct val="141666"/>
              </a:lnSpc>
            </a:pPr>
            <a:r>
              <a:rPr lang="en-US" b="false" i="false" strike="noStrike" u="none" sz="1500">
                <a:solidFill>
                  <a:srgbClr val="282828"/>
                </a:solidFill>
                <a:latin typeface="Consolas"/>
                <a:ea typeface="Consolas"/>
                <a:cs typeface="Consolas"/>
                <a:sym typeface="Consolas"/>
              </a:rPr>
              <a:t>H100 80G：L2 = 50MB</a:t>
            </a:r>
          </a:p>
          <a:p>
            <a:pPr algn="ctr" marL="0" indent="0">
              <a:lnSpc>
                <a:spcPct val="141666"/>
              </a:lnSpc>
            </a:pPr>
            <a:r>
              <a:rPr lang="en-US" b="false" i="false" strike="noStrike" u="none" sz="1500">
                <a:solidFill>
                  <a:srgbClr val="282828"/>
                </a:solidFill>
                <a:latin typeface="Consolas"/>
                <a:ea typeface="Consolas"/>
                <a:cs typeface="Consolas"/>
                <a:sym typeface="Consolas"/>
              </a:rPr>
              <a:t>H200：L2 = 60MB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2200">
                <a:solidFill>
                  <a:srgbClr val="1E1E1E"/>
                </a:solidFill>
                <a:latin typeface="微软雅黑"/>
                <a:ea typeface="微软雅黑"/>
                <a:cs typeface="微软雅黑"/>
                <a:sym typeface="微软雅黑"/>
              </a:rPr>
              <a:t>丹尼尔·卡尼曼《思考，快与慢》：人类思维的两个系统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498600"/>
            <a:ext cx="10668000" cy="1498600"/>
          </a:xfrm>
          <a:prstGeom prst="roundRect">
            <a:avLst>
              <a:gd name="adj" fmla="val 8474"/>
            </a:avLst>
          </a:prstGeom>
          <a:solidFill>
            <a:srgbClr val="EEF6FF">
              <a:alpha val="100000"/>
            </a:srgbClr>
          </a:solidFill>
          <a:ln w="12700" cmpd="sng" cap="flat">
            <a:solidFill>
              <a:srgbClr val="2B65E8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041400" y="1676400"/>
            <a:ext cx="10160000" cy="1193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2B65E8"/>
                </a:solidFill>
                <a:latin typeface="微软雅黑"/>
                <a:ea typeface="微软雅黑"/>
                <a:cs typeface="微软雅黑"/>
                <a:sym typeface="微软雅黑"/>
              </a:rPr>
              <a:t>System 1（系统一）：</a:t>
            </a:r>
            <a:r>
              <a:rPr lang="en-US" b="false" i="false" strike="noStrike" u="none" sz="1500">
                <a:solidFill>
                  <a:srgbClr val="1E3C78"/>
                </a:solidFill>
                <a:latin typeface="微软雅黑"/>
                <a:ea typeface="微软雅黑"/>
                <a:cs typeface="微软雅黑"/>
                <a:sym typeface="微软雅黑"/>
              </a:rPr>
              <a:t>直觉式的、高速的、潜意识的。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500">
                <a:solidFill>
                  <a:srgbClr val="1E3C78"/>
                </a:solidFill>
                <a:latin typeface="微软雅黑"/>
                <a:ea typeface="微软雅黑"/>
                <a:cs typeface="微软雅黑"/>
                <a:sym typeface="微软雅黑"/>
              </a:rPr>
              <a:t>比如看到红灯就立刻踩刹车——这是一种极低延迟的神经反射，不需要消耗太多脑力。</a:t>
            </a: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3175000"/>
            <a:ext cx="10668000" cy="1498600"/>
          </a:xfrm>
          <a:prstGeom prst="roundRect">
            <a:avLst>
              <a:gd name="adj" fmla="val 8474"/>
            </a:avLst>
          </a:prstGeom>
          <a:solidFill>
            <a:srgbClr val="F8F6FF">
              <a:alpha val="100000"/>
            </a:srgbClr>
          </a:solidFill>
          <a:ln w="12700" cmpd="sng" cap="flat">
            <a:solidFill>
              <a:srgbClr val="785AC8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041400" y="3352800"/>
            <a:ext cx="10160000" cy="1193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785AC8"/>
                </a:solidFill>
                <a:latin typeface="微软雅黑"/>
                <a:ea typeface="微软雅黑"/>
                <a:cs typeface="微软雅黑"/>
                <a:sym typeface="微软雅黑"/>
              </a:rPr>
              <a:t>System 2（系统二）：</a:t>
            </a:r>
            <a:r>
              <a:rPr lang="en-US" b="false" i="false" strike="noStrike" u="none" sz="1500">
                <a:solidFill>
                  <a:srgbClr val="463278"/>
                </a:solidFill>
                <a:latin typeface="微软雅黑"/>
                <a:ea typeface="微软雅黑"/>
                <a:cs typeface="微软雅黑"/>
                <a:sym typeface="微软雅黑"/>
              </a:rPr>
              <a:t>深思熟虑的、缓慢的、逻辑推演的。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500">
                <a:solidFill>
                  <a:srgbClr val="463278"/>
                </a:solidFill>
                <a:latin typeface="微软雅黑"/>
                <a:ea typeface="微软雅黑"/>
                <a:cs typeface="微软雅黑"/>
                <a:sym typeface="微软雅黑"/>
              </a:rPr>
              <a:t>比如解一道微积分题，或者构思一封复杂的商业邮件。</a:t>
            </a:r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762000" y="4902200"/>
            <a:ext cx="10668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9166"/>
              </a:lnSpc>
              <a:defRPr/>
            </a:pPr>
            <a:r>
              <a:rPr lang="en-US" b="false" i="false" strike="noStrike" u="none" sz="1500">
                <a:solidFill>
                  <a:srgbClr val="282828"/>
                </a:solidFill>
                <a:latin typeface="微软雅黑"/>
                <a:ea typeface="微软雅黑"/>
                <a:cs typeface="微软雅黑"/>
                <a:sym typeface="微软雅黑"/>
              </a:rPr>
              <a:t>TypeSafe AI 创始人 Diogo Almeida 指出：现在的 GPT 系列、Claude 系列，甚至开源的 Llama 系列，</a:t>
            </a:r>
            <a:endParaRPr lang="en-US" sz="1100"/>
          </a:p>
          <a:p>
            <a:pPr algn="l" marL="0" indent="0">
              <a:lnSpc>
                <a:spcPct val="129166"/>
              </a:lnSpc>
            </a:pPr>
            <a:r>
              <a:rPr lang="en-US" b="true" i="false" strike="noStrike" u="none" sz="1500">
                <a:solidFill>
                  <a:srgbClr val="D22A28"/>
                </a:solidFill>
                <a:latin typeface="微软雅黑"/>
                <a:ea typeface="微软雅黑"/>
                <a:cs typeface="微软雅黑"/>
                <a:sym typeface="微软雅黑"/>
              </a:rPr>
              <a:t>全都是典型的 System 2</a:t>
            </a:r>
            <a:r>
              <a:rPr lang="en-US" b="false" i="false" strike="noStrike" u="none" sz="1500">
                <a:solidFill>
                  <a:srgbClr val="282828"/>
                </a:solidFill>
                <a:latin typeface="微软雅黑"/>
                <a:ea typeface="微软雅黑"/>
                <a:cs typeface="微软雅黑"/>
                <a:sym typeface="微软雅黑"/>
              </a:rPr>
              <a:t>——被训练来做长文本逻辑链推理（Chain of Thought）、复杂创作与反复斟酌的对话。</a:t>
            </a:r>
          </a:p>
          <a:p>
            <a:pPr algn="l" marL="0" indent="0">
              <a:lnSpc>
                <a:spcPct val="129166"/>
              </a:lnSpc>
            </a:pPr>
            <a:r>
              <a:rPr lang="en-US" b="false" i="false" strike="noStrike" u="none" sz="1500">
                <a:solidFill>
                  <a:srgbClr val="282828"/>
                </a:solidFill>
                <a:latin typeface="微软雅黑"/>
                <a:ea typeface="微软雅黑"/>
                <a:cs typeface="微软雅黑"/>
                <a:sym typeface="微软雅黑"/>
              </a:rPr>
              <a:t>但是大量的需求，其实很简单，</a:t>
            </a:r>
            <a:r>
              <a:rPr lang="en-US" b="true" i="false" strike="noStrike" u="none" sz="1500">
                <a:solidFill>
                  <a:srgbClr val="D22A28"/>
                </a:solidFill>
                <a:latin typeface="微软雅黑"/>
                <a:ea typeface="微软雅黑"/>
                <a:cs typeface="微软雅黑"/>
                <a:sym typeface="微软雅黑"/>
              </a:rPr>
              <a:t>就是做判断</a:t>
            </a:r>
            <a:r>
              <a:rPr lang="en-US" b="false" i="false" strike="noStrike" u="none" sz="1500">
                <a:solidFill>
                  <a:srgbClr val="282828"/>
                </a:solidFill>
                <a:latin typeface="微软雅黑"/>
                <a:ea typeface="微软雅黑"/>
                <a:cs typeface="微软雅黑"/>
                <a:sym typeface="微软雅黑"/>
              </a:rPr>
              <a:t>。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762000" y="1524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D22A28"/>
                </a:solidFill>
                <a:latin typeface="微软雅黑"/>
                <a:ea typeface="微软雅黑"/>
                <a:cs typeface="微软雅黑"/>
                <a:sym typeface="微软雅黑"/>
              </a:rPr>
              <a:t>AI 缺少了一个属于自己的 System 1！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762000" y="2489200"/>
            <a:ext cx="10668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785AC8"/>
                </a:solidFill>
                <a:latin typeface="微软雅黑"/>
                <a:ea typeface="微软雅黑"/>
                <a:cs typeface="微软雅黑"/>
                <a:sym typeface="微软雅黑"/>
              </a:rPr>
              <a:t>直觉式 · 快速式 · 只负责执行高频轻量的结构化判定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9549" flipH="false" flipV="false">
            <a:off x="3810009" y="31686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CDCD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1270000" y="3632200"/>
            <a:ext cx="9652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700">
                <a:solidFill>
                  <a:srgbClr val="282828"/>
                </a:solidFill>
                <a:latin typeface="微软雅黑"/>
                <a:ea typeface="微软雅黑"/>
                <a:cs typeface="微软雅黑"/>
                <a:sym typeface="微软雅黑"/>
              </a:rPr>
              <a:t>在真实的软件工程和 Agent 循环中，</a:t>
            </a:r>
            <a:r>
              <a:rPr lang="en-US" b="true" i="false" strike="noStrike" u="none" sz="1700">
                <a:solidFill>
                  <a:srgbClr val="D22A28"/>
                </a:solidFill>
                <a:latin typeface="微软雅黑"/>
                <a:ea typeface="微软雅黑"/>
                <a:cs typeface="微软雅黑"/>
                <a:sym typeface="微软雅黑"/>
              </a:rPr>
              <a:t>95% 的判断是高频的、低复杂度的"红绿灯判断"</a:t>
            </a:r>
            <a:r>
              <a:rPr lang="en-US" b="false" i="false" strike="noStrike" u="none" sz="1700">
                <a:solidFill>
                  <a:srgbClr val="282828"/>
                </a:solidFill>
                <a:latin typeface="微软雅黑"/>
                <a:ea typeface="微软雅黑"/>
                <a:cs typeface="微软雅黑"/>
                <a:sym typeface="微软雅黑"/>
              </a:rPr>
              <a:t>：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524000" y="4572000"/>
            <a:ext cx="9144000" cy="1320800"/>
          </a:xfrm>
          <a:prstGeom prst="roundRect">
            <a:avLst>
              <a:gd name="adj" fmla="val 9615"/>
            </a:avLst>
          </a:prstGeom>
          <a:solidFill>
            <a:srgbClr val="F8F9FB">
              <a:alpha val="100000"/>
            </a:srgbClr>
          </a:solidFill>
          <a:ln w="12700" cmpd="sng" cap="flat">
            <a:solidFill>
              <a:srgbClr val="E1E4E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905000" y="4775200"/>
            <a:ext cx="8382000" cy="965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700">
                <a:solidFill>
                  <a:srgbClr val="282828"/>
                </a:solidFill>
                <a:latin typeface="微软雅黑"/>
                <a:ea typeface="微软雅黑"/>
                <a:cs typeface="微软雅黑"/>
                <a:sym typeface="微软雅黑"/>
              </a:rPr>
              <a:t>· 该不该重试？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700">
                <a:solidFill>
                  <a:srgbClr val="282828"/>
                </a:solidFill>
                <a:latin typeface="微软雅黑"/>
                <a:ea typeface="微软雅黑"/>
                <a:cs typeface="微软雅黑"/>
                <a:sym typeface="微软雅黑"/>
              </a:rPr>
              <a:t>· 是否触发安全告警？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700">
                <a:solidFill>
                  <a:srgbClr val="282828"/>
                </a:solidFill>
                <a:latin typeface="微软雅黑"/>
                <a:ea typeface="微软雅黑"/>
                <a:cs typeface="微软雅黑"/>
                <a:sym typeface="微软雅黑"/>
              </a:rPr>
              <a:t>· 分类是 A 还是 B？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28" b="28"/>
          <a:stretch>
            <a:fillRect/>
          </a:stretch>
        </p:blipFill>
        <p:spPr>
          <a:xfrm rot="0" flipH="false" flipV="false">
            <a:off x="762000" y="889000"/>
            <a:ext cx="10668000" cy="51308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889000" y="787400"/>
            <a:ext cx="10414000" cy="52959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762000" y="4572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1E1E1E"/>
                </a:solidFill>
                <a:latin typeface="微软雅黑"/>
                <a:ea typeface="微软雅黑"/>
                <a:cs typeface="微软雅黑"/>
                <a:sym typeface="微软雅黑"/>
              </a:rPr>
              <a:t>Jev 的极致输入与多头输出（Multi-Head Output）设计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762000" y="1092200"/>
            <a:ext cx="53340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5A5A5A"/>
                </a:solidFill>
                <a:latin typeface="微软雅黑"/>
                <a:ea typeface="微软雅黑"/>
                <a:cs typeface="微软雅黑"/>
                <a:sym typeface="微软雅黑"/>
              </a:rPr>
              <a:t>输入：任务（prompt）+ 特定 Schema 约束</a:t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5A5A5A"/>
                </a:solidFill>
                <a:latin typeface="微软雅黑"/>
                <a:ea typeface="微软雅黑"/>
                <a:cs typeface="微软雅黑"/>
                <a:sym typeface="微软雅黑"/>
              </a:rPr>
              <a:t>输出：多头决策</a:t>
            </a:r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206500" y="5308600"/>
            <a:ext cx="1524000" cy="558800"/>
          </a:xfrm>
          <a:prstGeom prst="roundRect">
            <a:avLst>
              <a:gd name="adj" fmla="val 0"/>
            </a:avLst>
          </a:prstGeom>
          <a:solidFill>
            <a:srgbClr val="2B65E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prompt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3619500" y="5308600"/>
            <a:ext cx="1524000" cy="558800"/>
          </a:xfrm>
          <a:prstGeom prst="roundRect">
            <a:avLst>
              <a:gd name="adj" fmla="val 0"/>
            </a:avLst>
          </a:prstGeom>
          <a:solidFill>
            <a:srgbClr val="2B65E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schema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143000" y="3759200"/>
            <a:ext cx="3937000" cy="863600"/>
          </a:xfrm>
          <a:prstGeom prst="roundRect">
            <a:avLst>
              <a:gd name="adj" fmla="val 0"/>
            </a:avLst>
          </a:prstGeom>
          <a:solidFill>
            <a:srgbClr val="2B65E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Transformer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2286000" y="2489200"/>
            <a:ext cx="1651000" cy="584200"/>
          </a:xfrm>
          <a:prstGeom prst="roundRect">
            <a:avLst>
              <a:gd name="adj" fmla="val 0"/>
            </a:avLst>
          </a:prstGeom>
          <a:solidFill>
            <a:srgbClr val="2B65E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hidden state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3418224" flipH="false" flipV="false">
            <a:off x="1792749" y="4972008"/>
            <a:ext cx="79605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B65E8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name="Connector 9" id="9"/>
          <p:cNvCxnSpPr/>
          <p:nvPr/>
        </p:nvCxnSpPr>
        <p:spPr>
          <a:xfrm rot="-7706512" flipH="false" flipV="false">
            <a:off x="3710880" y="4972012"/>
            <a:ext cx="833182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B65E8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name="Connector 10" id="10"/>
          <p:cNvCxnSpPr/>
          <p:nvPr/>
        </p:nvCxnSpPr>
        <p:spPr>
          <a:xfrm rot="-5466102" flipH="false" flipV="false">
            <a:off x="2781300" y="3422589"/>
            <a:ext cx="660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B65E8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name="Connector 11" id="11"/>
          <p:cNvCxnSpPr/>
          <p:nvPr/>
        </p:nvCxnSpPr>
        <p:spPr>
          <a:xfrm rot="0" flipH="false" flipV="false">
            <a:off x="3111500" y="1905000"/>
            <a:ext cx="3238500" cy="584200"/>
          </a:xfrm>
          <a:prstGeom prst="bentConnector3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B65E8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12" id="12"/>
          <p:cNvSpPr txBox="true"/>
          <p:nvPr/>
        </p:nvSpPr>
        <p:spPr>
          <a:xfrm rot="0" flipH="false" flipV="false">
            <a:off x="6604000" y="1905000"/>
            <a:ext cx="482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E1E1E"/>
                </a:solidFill>
                <a:latin typeface="微软雅黑"/>
                <a:ea typeface="微软雅黑"/>
                <a:cs typeface="微软雅黑"/>
                <a:sym typeface="微软雅黑"/>
              </a:rPr>
              <a:t>为追求速度，Jev 舍弃文本生成，只保留三种输出：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6604000" y="2616200"/>
            <a:ext cx="48768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9166"/>
              </a:lnSpc>
              <a:defRPr/>
            </a:pPr>
            <a:r>
              <a:rPr lang="en-US" b="true" i="false" strike="noStrike" u="none" sz="1500">
                <a:solidFill>
                  <a:srgbClr val="2B65E8"/>
                </a:solidFill>
                <a:latin typeface="微软雅黑"/>
                <a:ea typeface="微软雅黑"/>
                <a:cs typeface="微软雅黑"/>
                <a:sym typeface="微软雅黑"/>
              </a:rPr>
              <a:t>choice：</a:t>
            </a:r>
            <a:r>
              <a:rPr lang="en-US" b="false" i="false" strike="noStrike" u="none" sz="1500">
                <a:solidFill>
                  <a:srgbClr val="282828"/>
                </a:solidFill>
                <a:latin typeface="微软雅黑"/>
                <a:ea typeface="微软雅黑"/>
                <a:cs typeface="微软雅黑"/>
                <a:sym typeface="微软雅黑"/>
              </a:rPr>
              <a:t>在给定的枚举列表中完成多选一路由。</a:t>
            </a:r>
            <a:endParaRPr lang="en-US" sz="1100"/>
          </a:p>
          <a:p>
            <a:pPr algn="l" marL="0" indent="0">
              <a:lnSpc>
                <a:spcPct val="129166"/>
              </a:lnSpc>
            </a:pPr>
            <a:r>
              <a:rPr lang="en-US" b="true" i="false" strike="noStrike" u="none" sz="1500">
                <a:solidFill>
                  <a:srgbClr val="2B65E8"/>
                </a:solidFill>
                <a:latin typeface="微软雅黑"/>
                <a:ea typeface="微软雅黑"/>
                <a:cs typeface="微软雅黑"/>
                <a:sym typeface="微软雅黑"/>
              </a:rPr>
              <a:t>score：</a:t>
            </a:r>
            <a:r>
              <a:rPr lang="en-US" b="false" i="false" strike="noStrike" u="none" sz="1500">
                <a:solidFill>
                  <a:srgbClr val="282828"/>
                </a:solidFill>
                <a:latin typeface="微软雅黑"/>
                <a:ea typeface="微软雅黑"/>
                <a:cs typeface="微软雅黑"/>
                <a:sym typeface="微软雅黑"/>
              </a:rPr>
              <a:t>在有序离散区间内打分（如 0 到 10 的数值评分）。</a:t>
            </a:r>
          </a:p>
          <a:p>
            <a:pPr algn="l" marL="0" indent="0">
              <a:lnSpc>
                <a:spcPct val="129166"/>
              </a:lnSpc>
            </a:pPr>
            <a:r>
              <a:rPr lang="en-US" b="true" i="false" strike="noStrike" u="none" sz="1500">
                <a:solidFill>
                  <a:srgbClr val="2B65E8"/>
                </a:solidFill>
                <a:latin typeface="微软雅黑"/>
                <a:ea typeface="微软雅黑"/>
                <a:cs typeface="微软雅黑"/>
                <a:sym typeface="微软雅黑"/>
              </a:rPr>
              <a:t>noul：</a:t>
            </a:r>
            <a:r>
              <a:rPr lang="en-US" b="false" i="false" strike="noStrike" u="none" sz="1500">
                <a:solidFill>
                  <a:srgbClr val="282828"/>
                </a:solidFill>
                <a:latin typeface="微软雅黑"/>
                <a:ea typeface="微软雅黑"/>
                <a:cs typeface="微软雅黑"/>
                <a:sym typeface="微软雅黑"/>
              </a:rPr>
              <a:t>输出二值布尔概率（true、false）。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635000" y="330200"/>
            <a:ext cx="10922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100">
                <a:solidFill>
                  <a:srgbClr val="2B65E8"/>
                </a:solidFill>
                <a:latin typeface="微软雅黑"/>
                <a:ea typeface="微软雅黑"/>
                <a:cs typeface="微软雅黑"/>
                <a:sym typeface="微软雅黑"/>
              </a:rPr>
              <a:t>输出① choice</a:t>
            </a:r>
            <a:r>
              <a:rPr lang="en-US" b="true" i="false" strike="noStrike" u="none" sz="2100">
                <a:solidFill>
                  <a:srgbClr val="1E1E1E"/>
                </a:solidFill>
                <a:latin typeface="微软雅黑"/>
                <a:ea typeface="微软雅黑"/>
                <a:cs typeface="微软雅黑"/>
                <a:sym typeface="微软雅黑"/>
              </a:rPr>
              <a:t>：在枚举列表中完成多选一路由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635000" y="889000"/>
            <a:ext cx="10922000" cy="4800600"/>
          </a:xfrm>
          <a:prstGeom prst="roundRect">
            <a:avLst>
              <a:gd name="adj" fmla="val 2116"/>
            </a:avLst>
          </a:prstGeom>
          <a:solidFill>
            <a:srgbClr val="F8F9FB">
              <a:alpha val="100000"/>
            </a:srgbClr>
          </a:solidFill>
          <a:ln w="12700" cmpd="sng" cap="flat">
            <a:solidFill>
              <a:srgbClr val="E1E4E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838200" y="1016000"/>
            <a:ext cx="10515600" cy="457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1666"/>
              </a:lnSpc>
              <a:defRPr/>
            </a:pPr>
            <a:r>
              <a:rPr lang="en-US" b="false" i="false" strike="noStrike" u="none" sz="1150">
                <a:solidFill>
                  <a:srgbClr val="242934"/>
                </a:solidFill>
                <a:latin typeface="Consolas"/>
                <a:ea typeface="Consolas"/>
                <a:cs typeface="Consolas"/>
                <a:sym typeface="Consolas"/>
              </a:rPr>
              <a:t>import { experimental_evaluate } from 'ar';</a:t>
            </a:r>
            <a:endParaRPr lang="en-US" sz="1100"/>
          </a:p>
          <a:p>
            <a:pPr algn="l" marL="0" indent="0">
              <a:lnSpc>
                <a:spcPct val="101666"/>
              </a:lnSpc>
            </a:pPr>
            <a:r>
              <a:rPr lang="en-US" b="false" i="false" strike="noStrike" u="none" sz="1150">
                <a:solidFill>
                  <a:srgbClr val="242934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1666"/>
              </a:lnSpc>
            </a:pPr>
            <a:r>
              <a:rPr lang="en-US" b="false" i="false" strike="noStrike" u="none" sz="1150">
                <a:solidFill>
                  <a:srgbClr val="242934"/>
                </a:solidFill>
                <a:latin typeface="Consolas"/>
                <a:ea typeface="Consolas"/>
                <a:cs typeface="Consolas"/>
                <a:sym typeface="Consolas"/>
              </a:rPr>
              <a:t>const contextText = '系统错误导致我账户被多扣了五千块钱！我给你们最后24小时，不退款马上去法院见！';</a:t>
            </a:r>
          </a:p>
          <a:p>
            <a:pPr algn="l" marL="0" indent="0">
              <a:lnSpc>
                <a:spcPct val="101666"/>
              </a:lnSpc>
            </a:pPr>
            <a:r>
              <a:rPr lang="en-US" b="false" i="false" strike="noStrike" u="none" sz="1150">
                <a:solidFill>
                  <a:srgbClr val="242934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1666"/>
              </a:lnSpc>
            </a:pPr>
            <a:r>
              <a:rPr lang="en-US" b="false" i="false" strike="noStrike" u="none" sz="1150">
                <a:solidFill>
                  <a:srgbClr val="242934"/>
                </a:solidFill>
                <a:latin typeface="Consolas"/>
                <a:ea typeface="Consolas"/>
                <a:cs typeface="Consolas"/>
                <a:sym typeface="Consolas"/>
              </a:rPr>
              <a:t>const result = await evaluate({</a:t>
            </a:r>
          </a:p>
          <a:p>
            <a:pPr algn="l" marL="0" indent="0">
              <a:lnSpc>
                <a:spcPct val="101666"/>
              </a:lnSpc>
            </a:pPr>
            <a:r>
              <a:rPr lang="en-US" b="false" i="false" strike="noStrike" u="none" sz="1150">
                <a:solidFill>
                  <a:srgbClr val="242934"/>
                </a:solidFill>
                <a:latin typeface="Consolas"/>
                <a:ea typeface="Consolas"/>
                <a:cs typeface="Consolas"/>
                <a:sym typeface="Consolas"/>
              </a:rPr>
              <a:t>model: 'typesafe-ai/jev',</a:t>
            </a:r>
          </a:p>
          <a:p>
            <a:pPr algn="l" marL="0" indent="0">
              <a:lnSpc>
                <a:spcPct val="101666"/>
              </a:lnSpc>
            </a:pPr>
            <a:r>
              <a:rPr lang="en-US" b="false" i="false" strike="noStrike" u="none" sz="1150">
                <a:solidFill>
                  <a:srgbClr val="242934"/>
                </a:solidFill>
                <a:latin typeface="Consolas"/>
                <a:ea typeface="Consolas"/>
                <a:cs typeface="Consolas"/>
                <a:sym typeface="Consolas"/>
              </a:rPr>
              <a:t>state: { contextText }, // 这里填入上面的上下文文本</a:t>
            </a:r>
          </a:p>
          <a:p>
            <a:pPr algn="l" marL="0" indent="0">
              <a:lnSpc>
                <a:spcPct val="101666"/>
              </a:lnSpc>
            </a:pPr>
            <a:r>
              <a:rPr lang="en-US" b="false" i="false" strike="noStrike" u="none" sz="1150">
                <a:solidFill>
                  <a:srgbClr val="242934"/>
                </a:solidFill>
                <a:latin typeface="Consolas"/>
                <a:ea typeface="Consolas"/>
                <a:cs typeface="Consolas"/>
                <a:sym typeface="Consolas"/>
              </a:rPr>
              <a:t>questions: [</a:t>
            </a:r>
          </a:p>
          <a:p>
            <a:pPr algn="l" marL="0" indent="0">
              <a:lnSpc>
                <a:spcPct val="101666"/>
              </a:lnSpc>
            </a:pPr>
            <a:r>
              <a:rPr lang="en-US" b="false" i="false" strike="noStrike" u="none" sz="1150">
                <a:solidFill>
                  <a:srgbClr val="242934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</a:p>
          <a:p>
            <a:pPr algn="l" marL="0" indent="0">
              <a:lnSpc>
                <a:spcPct val="101666"/>
              </a:lnSpc>
            </a:pPr>
            <a:r>
              <a:rPr lang="en-US" b="false" i="false" strike="noStrike" u="none" sz="1150">
                <a:solidFill>
                  <a:srgbClr val="242934"/>
                </a:solidFill>
                <a:latin typeface="Consolas"/>
                <a:ea typeface="Consolas"/>
                <a:cs typeface="Consolas"/>
                <a:sym typeface="Consolas"/>
              </a:rPr>
              <a:t>type: 'choice',</a:t>
            </a:r>
          </a:p>
          <a:p>
            <a:pPr algn="l" marL="0" indent="0">
              <a:lnSpc>
                <a:spcPct val="101666"/>
              </a:lnSpc>
            </a:pPr>
            <a:r>
              <a:rPr lang="en-US" b="false" i="false" strike="noStrike" u="none" sz="1150">
                <a:solidFill>
                  <a:srgbClr val="242934"/>
                </a:solidFill>
                <a:latin typeface="Consolas"/>
                <a:ea typeface="Consolas"/>
                <a:cs typeface="Consolas"/>
                <a:sym typeface="Consolas"/>
              </a:rPr>
              <a:t>instructions: '将客户工单分类到最合适的处理部门。',</a:t>
            </a:r>
          </a:p>
          <a:p>
            <a:pPr algn="l" marL="0" indent="0">
              <a:lnSpc>
                <a:spcPct val="101666"/>
              </a:lnSpc>
            </a:pPr>
            <a:r>
              <a:rPr lang="en-US" b="false" i="false" strike="noStrike" u="none" sz="1150">
                <a:solidFill>
                  <a:srgbClr val="242934"/>
                </a:solidFill>
                <a:latin typeface="Consolas"/>
                <a:ea typeface="Consolas"/>
                <a:cs typeface="Consolas"/>
                <a:sym typeface="Consolas"/>
              </a:rPr>
              <a:t>choices: [</a:t>
            </a:r>
          </a:p>
          <a:p>
            <a:pPr algn="l" marL="0" indent="0">
              <a:lnSpc>
                <a:spcPct val="101666"/>
              </a:lnSpc>
            </a:pPr>
            <a:r>
              <a:rPr lang="en-US" b="false" i="false" strike="noStrike" u="none" sz="1150">
                <a:solidFill>
                  <a:srgbClr val="242934"/>
                </a:solidFill>
                <a:latin typeface="Consolas"/>
                <a:ea typeface="Consolas"/>
                <a:cs typeface="Consolas"/>
                <a:sym typeface="Consolas"/>
              </a:rPr>
              <a:t>{ value: 'billing_issue', description: '账单、扣款、退款、资金纠纷相关问题。' },</a:t>
            </a:r>
          </a:p>
          <a:p>
            <a:pPr algn="l" marL="0" indent="0">
              <a:lnSpc>
                <a:spcPct val="101666"/>
              </a:lnSpc>
            </a:pPr>
            <a:r>
              <a:rPr lang="en-US" b="false" i="false" strike="noStrike" u="none" sz="1150">
                <a:solidFill>
                  <a:srgbClr val="242934"/>
                </a:solidFill>
                <a:latin typeface="Consolas"/>
                <a:ea typeface="Consolas"/>
                <a:cs typeface="Consolas"/>
                <a:sym typeface="Consolas"/>
              </a:rPr>
              <a:t>{ value: 'technical_support', description: '系统故障、Bug、功能异常等技术问题。' },</a:t>
            </a:r>
          </a:p>
          <a:p>
            <a:pPr algn="l" marL="0" indent="0">
              <a:lnSpc>
                <a:spcPct val="101666"/>
              </a:lnSpc>
            </a:pPr>
            <a:r>
              <a:rPr lang="en-US" b="false" i="false" strike="noStrike" u="none" sz="1150">
                <a:solidFill>
                  <a:srgbClr val="242934"/>
                </a:solidFill>
                <a:latin typeface="Consolas"/>
                <a:ea typeface="Consolas"/>
                <a:cs typeface="Consolas"/>
                <a:sym typeface="Consolas"/>
              </a:rPr>
              <a:t>{ value: 'legal_risk', description: '涉及诉讼律师函、明确威胁法律行动的投诉。' },</a:t>
            </a:r>
          </a:p>
          <a:p>
            <a:pPr algn="l" marL="0" indent="0">
              <a:lnSpc>
                <a:spcPct val="101666"/>
              </a:lnSpc>
            </a:pPr>
            <a:r>
              <a:rPr lang="en-US" b="false" i="false" strike="noStrike" u="none" sz="1150">
                <a:solidFill>
                  <a:srgbClr val="242934"/>
                </a:solidFill>
                <a:latin typeface="Consolas"/>
                <a:ea typeface="Consolas"/>
                <a:cs typeface="Consolas"/>
                <a:sym typeface="Consolas"/>
              </a:rPr>
              <a:t>{ value: 'general_inquiry', description: '一般性咨询、建议或无法归类的其他问题。' },</a:t>
            </a:r>
          </a:p>
          <a:p>
            <a:pPr algn="l" marL="0" indent="0">
              <a:lnSpc>
                <a:spcPct val="101666"/>
              </a:lnSpc>
            </a:pPr>
            <a:r>
              <a:rPr lang="en-US" b="false" i="false" strike="noStrike" u="none" sz="1150">
                <a:solidFill>
                  <a:srgbClr val="242934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</a:p>
          <a:p>
            <a:pPr algn="l" marL="0" indent="0">
              <a:lnSpc>
                <a:spcPct val="101666"/>
              </a:lnSpc>
            </a:pPr>
            <a:r>
              <a:rPr lang="en-US" b="false" i="false" strike="noStrike" u="none" sz="1150">
                <a:solidFill>
                  <a:srgbClr val="242934"/>
                </a:solidFill>
                <a:latin typeface="Consolas"/>
                <a:ea typeface="Consolas"/>
                <a:cs typeface="Consolas"/>
                <a:sym typeface="Consolas"/>
              </a:rPr>
              <a:t>},</a:t>
            </a:r>
          </a:p>
          <a:p>
            <a:pPr algn="l" marL="0" indent="0">
              <a:lnSpc>
                <a:spcPct val="101666"/>
              </a:lnSpc>
            </a:pPr>
            <a:r>
              <a:rPr lang="en-US" b="false" i="false" strike="noStrike" u="none" sz="1150">
                <a:solidFill>
                  <a:srgbClr val="242934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</a:p>
          <a:p>
            <a:pPr algn="l" marL="0" indent="0">
              <a:lnSpc>
                <a:spcPct val="101666"/>
              </a:lnSpc>
            </a:pPr>
            <a:r>
              <a:rPr lang="en-US" b="false" i="false" strike="noStrike" u="none" sz="1150">
                <a:solidFill>
                  <a:srgbClr val="242934"/>
                </a:solidFill>
                <a:latin typeface="Consolas"/>
                <a:ea typeface="Consolas"/>
                <a:cs typeface="Consolas"/>
                <a:sym typeface="Consolas"/>
              </a:rPr>
              <a:t>});</a:t>
            </a: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35000" y="5842000"/>
            <a:ext cx="10922000" cy="711200"/>
          </a:xfrm>
          <a:prstGeom prst="roundRect">
            <a:avLst>
              <a:gd name="adj" fmla="val 14285"/>
            </a:avLst>
          </a:prstGeom>
          <a:solidFill>
            <a:srgbClr val="FDEBEB">
              <a:alpha val="100000"/>
            </a:srgbClr>
          </a:solidFill>
          <a:ln w="12700" cmpd="sng" cap="flat">
            <a:solidFill>
              <a:srgbClr val="D22A28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889000" y="5943600"/>
            <a:ext cx="10414000" cy="533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D22A28"/>
                </a:solidFill>
                <a:latin typeface="Consolas"/>
                <a:ea typeface="Consolas"/>
                <a:cs typeface="Consolas"/>
                <a:sym typeface="Consolas"/>
              </a:rPr>
              <a:t>=&gt; { legal_risk: 0.9 }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635000" y="330200"/>
            <a:ext cx="10922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100">
                <a:solidFill>
                  <a:srgbClr val="2B65E8"/>
                </a:solidFill>
                <a:latin typeface="微软雅黑"/>
                <a:ea typeface="微软雅黑"/>
                <a:cs typeface="微软雅黑"/>
                <a:sym typeface="微软雅黑"/>
              </a:rPr>
              <a:t>输出② score</a:t>
            </a:r>
            <a:r>
              <a:rPr lang="en-US" b="true" i="false" strike="noStrike" u="none" sz="2100">
                <a:solidFill>
                  <a:srgbClr val="1E1E1E"/>
                </a:solidFill>
                <a:latin typeface="微软雅黑"/>
                <a:ea typeface="微软雅黑"/>
                <a:cs typeface="微软雅黑"/>
                <a:sym typeface="微软雅黑"/>
              </a:rPr>
              <a:t>：在有序离散区间内打分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635000" y="889000"/>
            <a:ext cx="10922000" cy="4800600"/>
          </a:xfrm>
          <a:prstGeom prst="roundRect">
            <a:avLst>
              <a:gd name="adj" fmla="val 2116"/>
            </a:avLst>
          </a:prstGeom>
          <a:solidFill>
            <a:srgbClr val="F8F9FB">
              <a:alpha val="100000"/>
            </a:srgbClr>
          </a:solidFill>
          <a:ln w="12700" cmpd="sng" cap="flat">
            <a:solidFill>
              <a:srgbClr val="E1E4E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838200" y="1016000"/>
            <a:ext cx="10515600" cy="457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1666"/>
              </a:lnSpc>
              <a:defRPr/>
            </a:pPr>
            <a:r>
              <a:rPr lang="en-US" b="false" i="false" strike="noStrike" u="none" sz="1150">
                <a:solidFill>
                  <a:srgbClr val="242934"/>
                </a:solidFill>
                <a:latin typeface="Consolas"/>
                <a:ea typeface="Consolas"/>
                <a:cs typeface="Consolas"/>
                <a:sym typeface="Consolas"/>
              </a:rPr>
              <a:t>const result = await evaluate({</a:t>
            </a:r>
            <a:endParaRPr lang="en-US" sz="1100"/>
          </a:p>
          <a:p>
            <a:pPr algn="l" marL="0" indent="0">
              <a:lnSpc>
                <a:spcPct val="101666"/>
              </a:lnSpc>
            </a:pPr>
            <a:r>
              <a:rPr lang="en-US" b="false" i="false" strike="noStrike" u="none" sz="1150">
                <a:solidFill>
                  <a:srgbClr val="242934"/>
                </a:solidFill>
                <a:latin typeface="Consolas"/>
                <a:ea typeface="Consolas"/>
                <a:cs typeface="Consolas"/>
                <a:sym typeface="Consolas"/>
              </a:rPr>
              <a:t>model: 'typesafe-ai/jev',</a:t>
            </a:r>
          </a:p>
          <a:p>
            <a:pPr algn="l" marL="0" indent="0">
              <a:lnSpc>
                <a:spcPct val="101666"/>
              </a:lnSpc>
            </a:pPr>
            <a:r>
              <a:rPr lang="en-US" b="false" i="false" strike="noStrike" u="none" sz="1150">
                <a:solidFill>
                  <a:srgbClr val="242934"/>
                </a:solidFill>
                <a:latin typeface="Consolas"/>
                <a:ea typeface="Consolas"/>
                <a:cs typeface="Consolas"/>
                <a:sym typeface="Consolas"/>
              </a:rPr>
              <a:t>state: { contextText },</a:t>
            </a:r>
          </a:p>
          <a:p>
            <a:pPr algn="l" marL="0" indent="0">
              <a:lnSpc>
                <a:spcPct val="101666"/>
              </a:lnSpc>
            </a:pPr>
            <a:r>
              <a:rPr lang="en-US" b="false" i="false" strike="noStrike" u="none" sz="1150">
                <a:solidFill>
                  <a:srgbClr val="242934"/>
                </a:solidFill>
                <a:latin typeface="Consolas"/>
                <a:ea typeface="Consolas"/>
                <a:cs typeface="Consolas"/>
                <a:sym typeface="Consolas"/>
              </a:rPr>
              <a:t>questions: [</a:t>
            </a:r>
          </a:p>
          <a:p>
            <a:pPr algn="l" marL="0" indent="0">
              <a:lnSpc>
                <a:spcPct val="101666"/>
              </a:lnSpc>
            </a:pPr>
            <a:r>
              <a:rPr lang="en-US" b="false" i="false" strike="noStrike" u="none" sz="1150">
                <a:solidFill>
                  <a:srgbClr val="242934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</a:p>
          <a:p>
            <a:pPr algn="l" marL="0" indent="0">
              <a:lnSpc>
                <a:spcPct val="101666"/>
              </a:lnSpc>
            </a:pPr>
            <a:r>
              <a:rPr lang="en-US" b="false" i="false" strike="noStrike" u="none" sz="1150">
                <a:solidFill>
                  <a:srgbClr val="242934"/>
                </a:solidFill>
                <a:latin typeface="Consolas"/>
                <a:ea typeface="Consolas"/>
                <a:cs typeface="Consolas"/>
                <a:sym typeface="Consolas"/>
              </a:rPr>
              <a:t>type: 'score',</a:t>
            </a:r>
          </a:p>
          <a:p>
            <a:pPr algn="l" marL="0" indent="0">
              <a:lnSpc>
                <a:spcPct val="101666"/>
              </a:lnSpc>
            </a:pPr>
            <a:r>
              <a:rPr lang="en-US" b="false" i="false" strike="noStrike" u="none" sz="1150">
                <a:solidFill>
                  <a:srgbClr val="242934"/>
                </a:solidFill>
                <a:latin typeface="Consolas"/>
                <a:ea typeface="Consolas"/>
                <a:cs typeface="Consolas"/>
                <a:sym typeface="Consolas"/>
              </a:rPr>
              <a:t>instructions: '按资金损失、情绪激烈程度和威胁法律行动的程度，对工单做 1-5 分严重性评估。',</a:t>
            </a:r>
          </a:p>
          <a:p>
            <a:pPr algn="l" marL="0" indent="0">
              <a:lnSpc>
                <a:spcPct val="101666"/>
              </a:lnSpc>
            </a:pPr>
            <a:r>
              <a:rPr lang="en-US" b="false" i="false" strike="noStrike" u="none" sz="1150">
                <a:solidFill>
                  <a:srgbClr val="242934"/>
                </a:solidFill>
                <a:latin typeface="Consolas"/>
                <a:ea typeface="Consolas"/>
                <a:cs typeface="Consolas"/>
                <a:sym typeface="Consolas"/>
              </a:rPr>
              <a:t>scores: [</a:t>
            </a:r>
          </a:p>
          <a:p>
            <a:pPr algn="l" marL="0" indent="0">
              <a:lnSpc>
                <a:spcPct val="101666"/>
              </a:lnSpc>
            </a:pPr>
            <a:r>
              <a:rPr lang="en-US" b="false" i="false" strike="noStrike" u="none" sz="1150">
                <a:solidFill>
                  <a:srgbClr val="242934"/>
                </a:solidFill>
                <a:latin typeface="Consolas"/>
                <a:ea typeface="Consolas"/>
                <a:cs typeface="Consolas"/>
                <a:sym typeface="Consolas"/>
              </a:rPr>
              <a:t>{ score: 1, label: '轻微', description: '轻微不满，涉及极小金额或仅要求解释。' },</a:t>
            </a:r>
          </a:p>
          <a:p>
            <a:pPr algn="l" marL="0" indent="0">
              <a:lnSpc>
                <a:spcPct val="101666"/>
              </a:lnSpc>
            </a:pPr>
            <a:r>
              <a:rPr lang="en-US" b="false" i="false" strike="noStrike" u="none" sz="1150">
                <a:solidFill>
                  <a:srgbClr val="242934"/>
                </a:solidFill>
                <a:latin typeface="Consolas"/>
                <a:ea typeface="Consolas"/>
                <a:cs typeface="Consolas"/>
                <a:sym typeface="Consolas"/>
              </a:rPr>
              <a:t>{ score: 2, label: '轻度', description: '明确投诉，涉及一定金额损失，情绪较激动。' },</a:t>
            </a:r>
          </a:p>
          <a:p>
            <a:pPr algn="l" marL="0" indent="0">
              <a:lnSpc>
                <a:spcPct val="101666"/>
              </a:lnSpc>
            </a:pPr>
            <a:r>
              <a:rPr lang="en-US" b="false" i="false" strike="noStrike" u="none" sz="1150">
                <a:solidFill>
                  <a:srgbClr val="242934"/>
                </a:solidFill>
                <a:latin typeface="Consolas"/>
                <a:ea typeface="Consolas"/>
                <a:cs typeface="Consolas"/>
                <a:sym typeface="Consolas"/>
              </a:rPr>
              <a:t>{ score: 3, label: '中度', description: '较大金额损失，多次沟通未果，要求立即解决。' },</a:t>
            </a:r>
          </a:p>
          <a:p>
            <a:pPr algn="l" marL="0" indent="0">
              <a:lnSpc>
                <a:spcPct val="101666"/>
              </a:lnSpc>
            </a:pPr>
            <a:r>
              <a:rPr lang="en-US" b="false" i="false" strike="noStrike" u="none" sz="1150">
                <a:solidFill>
                  <a:srgbClr val="242934"/>
                </a:solidFill>
                <a:latin typeface="Consolas"/>
                <a:ea typeface="Consolas"/>
                <a:cs typeface="Consolas"/>
                <a:sym typeface="Consolas"/>
              </a:rPr>
              <a:t>{ score: 4, label: '严重', description: '重大资金损失（数千元以上），用户强烈不满。' },</a:t>
            </a:r>
          </a:p>
          <a:p>
            <a:pPr algn="l" marL="0" indent="0">
              <a:lnSpc>
                <a:spcPct val="101666"/>
              </a:lnSpc>
            </a:pPr>
            <a:r>
              <a:rPr lang="en-US" b="false" i="false" strike="noStrike" u="none" sz="1150">
                <a:solidFill>
                  <a:srgbClr val="242934"/>
                </a:solidFill>
                <a:latin typeface="Consolas"/>
                <a:ea typeface="Consolas"/>
                <a:cs typeface="Consolas"/>
                <a:sym typeface="Consolas"/>
              </a:rPr>
              <a:t>{ score: 5, label: '危急', description: '巨额损失、情绪失控，明确威胁起诉/法院见或媒体曝光。' },</a:t>
            </a:r>
          </a:p>
          <a:p>
            <a:pPr algn="l" marL="0" indent="0">
              <a:lnSpc>
                <a:spcPct val="101666"/>
              </a:lnSpc>
            </a:pPr>
            <a:r>
              <a:rPr lang="en-US" b="false" i="false" strike="noStrike" u="none" sz="1150">
                <a:solidFill>
                  <a:srgbClr val="242934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</a:p>
          <a:p>
            <a:pPr algn="l" marL="0" indent="0">
              <a:lnSpc>
                <a:spcPct val="101666"/>
              </a:lnSpc>
            </a:pPr>
            <a:r>
              <a:rPr lang="en-US" b="false" i="false" strike="noStrike" u="none" sz="1150">
                <a:solidFill>
                  <a:srgbClr val="242934"/>
                </a:solidFill>
                <a:latin typeface="Consolas"/>
                <a:ea typeface="Consolas"/>
                <a:cs typeface="Consolas"/>
                <a:sym typeface="Consolas"/>
              </a:rPr>
              <a:t>},</a:t>
            </a:r>
          </a:p>
          <a:p>
            <a:pPr algn="l" marL="0" indent="0">
              <a:lnSpc>
                <a:spcPct val="101666"/>
              </a:lnSpc>
            </a:pPr>
            <a:r>
              <a:rPr lang="en-US" b="false" i="false" strike="noStrike" u="none" sz="1150">
                <a:solidFill>
                  <a:srgbClr val="242934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</a:p>
          <a:p>
            <a:pPr algn="l" marL="0" indent="0">
              <a:lnSpc>
                <a:spcPct val="101666"/>
              </a:lnSpc>
            </a:pPr>
            <a:r>
              <a:rPr lang="en-US" b="false" i="false" strike="noStrike" u="none" sz="1150">
                <a:solidFill>
                  <a:srgbClr val="242934"/>
                </a:solidFill>
                <a:latin typeface="Consolas"/>
                <a:ea typeface="Consolas"/>
                <a:cs typeface="Consolas"/>
                <a:sym typeface="Consolas"/>
              </a:rPr>
              <a:t>});</a:t>
            </a: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35000" y="5842000"/>
            <a:ext cx="10922000" cy="711200"/>
          </a:xfrm>
          <a:prstGeom prst="roundRect">
            <a:avLst>
              <a:gd name="adj" fmla="val 14285"/>
            </a:avLst>
          </a:prstGeom>
          <a:solidFill>
            <a:srgbClr val="FDEBEB">
              <a:alpha val="100000"/>
            </a:srgbClr>
          </a:solidFill>
          <a:ln w="12700" cmpd="sng" cap="flat">
            <a:solidFill>
              <a:srgbClr val="D22A28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889000" y="5943600"/>
            <a:ext cx="10414000" cy="533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D22A28"/>
                </a:solidFill>
                <a:latin typeface="微软雅黑"/>
                <a:ea typeface="微软雅黑"/>
                <a:cs typeface="微软雅黑"/>
                <a:sym typeface="微软雅黑"/>
              </a:rPr>
              <a:t>=&gt; 得分 4.3 分（各档概率加权求和）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635000" y="330200"/>
            <a:ext cx="10922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100">
                <a:solidFill>
                  <a:srgbClr val="2B65E8"/>
                </a:solidFill>
                <a:latin typeface="微软雅黑"/>
                <a:ea typeface="微软雅黑"/>
                <a:cs typeface="微软雅黑"/>
                <a:sym typeface="微软雅黑"/>
              </a:rPr>
              <a:t>输出③ noul</a:t>
            </a:r>
            <a:r>
              <a:rPr lang="en-US" b="true" i="false" strike="noStrike" u="none" sz="2100">
                <a:solidFill>
                  <a:srgbClr val="1E1E1E"/>
                </a:solidFill>
                <a:latin typeface="微软雅黑"/>
                <a:ea typeface="微软雅黑"/>
                <a:cs typeface="微软雅黑"/>
                <a:sym typeface="微软雅黑"/>
              </a:rPr>
              <a:t>：输出二值布尔概率（true / false）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635000" y="1219200"/>
            <a:ext cx="10922000" cy="3556000"/>
          </a:xfrm>
          <a:prstGeom prst="roundRect">
            <a:avLst>
              <a:gd name="adj" fmla="val 2857"/>
            </a:avLst>
          </a:prstGeom>
          <a:solidFill>
            <a:srgbClr val="F8F9FB">
              <a:alpha val="100000"/>
            </a:srgbClr>
          </a:solidFill>
          <a:ln w="12700" cmpd="sng" cap="flat">
            <a:solidFill>
              <a:srgbClr val="E1E4E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838200" y="1371600"/>
            <a:ext cx="10515600" cy="325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50">
                <a:solidFill>
                  <a:srgbClr val="242934"/>
                </a:solidFill>
                <a:latin typeface="Consolas"/>
                <a:ea typeface="Consolas"/>
                <a:cs typeface="Consolas"/>
                <a:sym typeface="Consolas"/>
              </a:rPr>
              <a:t>const result = await evaluate({</a:t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50">
                <a:solidFill>
                  <a:srgbClr val="242934"/>
                </a:solidFill>
                <a:latin typeface="Consolas"/>
                <a:ea typeface="Consolas"/>
                <a:cs typeface="Consolas"/>
                <a:sym typeface="Consolas"/>
              </a:rPr>
              <a:t>model: 'typesafe-ai/jev',</a:t>
            </a:r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50">
                <a:solidFill>
                  <a:srgbClr val="242934"/>
                </a:solidFill>
                <a:latin typeface="Consolas"/>
                <a:ea typeface="Consolas"/>
                <a:cs typeface="Consolas"/>
                <a:sym typeface="Consolas"/>
              </a:rPr>
              <a:t>state: { contextText },</a:t>
            </a:r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50">
                <a:solidFill>
                  <a:srgbClr val="242934"/>
                </a:solidFill>
                <a:latin typeface="Consolas"/>
                <a:ea typeface="Consolas"/>
                <a:cs typeface="Consolas"/>
                <a:sym typeface="Consolas"/>
              </a:rPr>
              <a:t>questions: [</a:t>
            </a:r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50">
                <a:solidFill>
                  <a:srgbClr val="242934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50">
                <a:solidFill>
                  <a:srgbClr val="242934"/>
                </a:solidFill>
                <a:latin typeface="Consolas"/>
                <a:ea typeface="Consolas"/>
                <a:cs typeface="Consolas"/>
                <a:sym typeface="Consolas"/>
              </a:rPr>
              <a:t>type: 'noul',</a:t>
            </a:r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50">
                <a:solidFill>
                  <a:srgbClr val="242934"/>
                </a:solidFill>
                <a:latin typeface="Consolas"/>
                <a:ea typeface="Consolas"/>
                <a:cs typeface="Consolas"/>
                <a:sym typeface="Consolas"/>
              </a:rPr>
              <a:t>name: 'is_urgent_legal_threat',</a:t>
            </a:r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50">
                <a:solidFill>
                  <a:srgbClr val="242934"/>
                </a:solidFill>
                <a:latin typeface="Consolas"/>
                <a:ea typeface="Consolas"/>
                <a:cs typeface="Consolas"/>
                <a:sym typeface="Consolas"/>
              </a:rPr>
              <a:t>instructions: '判断用户是否遭受了资金损失，并且明确威胁采取法律行动的投诉。',</a:t>
            </a:r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50">
                <a:solidFill>
                  <a:srgbClr val="242934"/>
                </a:solidFill>
                <a:latin typeface="Consolas"/>
                <a:ea typeface="Consolas"/>
                <a:cs typeface="Consolas"/>
                <a:sym typeface="Consolas"/>
              </a:rPr>
              <a:t>},</a:t>
            </a:r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50">
                <a:solidFill>
                  <a:srgbClr val="242934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50">
                <a:solidFill>
                  <a:srgbClr val="242934"/>
                </a:solidFill>
                <a:latin typeface="Consolas"/>
                <a:ea typeface="Consolas"/>
                <a:cs typeface="Consolas"/>
                <a:sym typeface="Consolas"/>
              </a:rPr>
              <a:t>});</a:t>
            </a: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35000" y="5054600"/>
            <a:ext cx="5270500" cy="1168400"/>
          </a:xfrm>
          <a:prstGeom prst="roundRect">
            <a:avLst>
              <a:gd name="adj" fmla="val 8695"/>
            </a:avLst>
          </a:prstGeom>
          <a:solidFill>
            <a:srgbClr val="FDEBEB">
              <a:alpha val="100000"/>
            </a:srgbClr>
          </a:solidFill>
          <a:ln w="12700" cmpd="sng" cap="flat">
            <a:solidFill>
              <a:srgbClr val="D22A28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838200" y="5232400"/>
            <a:ext cx="48641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D22A28"/>
                </a:solidFill>
                <a:latin typeface="Consolas"/>
                <a:ea typeface="Consolas"/>
                <a:cs typeface="Consolas"/>
                <a:sym typeface="Consolas"/>
              </a:rPr>
              <a:t>=&gt; true 0.9</a:t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true" i="false" strike="noStrike" u="none" sz="1600">
                <a:solidFill>
                  <a:srgbClr val="D22A28"/>
                </a:solidFill>
                <a:latin typeface="Consolas"/>
                <a:ea typeface="Consolas"/>
                <a:cs typeface="Consolas"/>
                <a:sym typeface="Consolas"/>
              </a:rPr>
              <a:t>false 0.1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286500" y="5054600"/>
            <a:ext cx="5270500" cy="1168400"/>
          </a:xfrm>
          <a:prstGeom prst="roundRect">
            <a:avLst>
              <a:gd name="adj" fmla="val 8695"/>
            </a:avLst>
          </a:prstGeom>
          <a:solidFill>
            <a:srgbClr val="EEF6FF">
              <a:alpha val="100000"/>
            </a:srgbClr>
          </a:solidFill>
          <a:ln w="12700" cmpd="sng" cap="flat">
            <a:solidFill>
              <a:srgbClr val="2B65E8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6515100" y="5207000"/>
            <a:ext cx="48641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1E3C78"/>
                </a:solidFill>
                <a:latin typeface="微软雅黑"/>
                <a:ea typeface="微软雅黑"/>
                <a:cs typeface="微软雅黑"/>
                <a:sym typeface="微软雅黑"/>
              </a:rPr>
              <a:t>隐状态过一个二分类头 + sigmoid，</a:t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400">
                <a:solidFill>
                  <a:srgbClr val="1E3C78"/>
                </a:solidFill>
                <a:latin typeface="微软雅黑"/>
                <a:ea typeface="微软雅黑"/>
                <a:cs typeface="微软雅黑"/>
                <a:sym typeface="微软雅黑"/>
              </a:rPr>
              <a:t>直接给出 true / false 及概率。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635000" y="330200"/>
            <a:ext cx="10922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100">
                <a:solidFill>
                  <a:srgbClr val="1E1E1E"/>
                </a:solidFill>
                <a:latin typeface="微软雅黑"/>
                <a:ea typeface="微软雅黑"/>
                <a:cs typeface="微软雅黑"/>
                <a:sym typeface="微软雅黑"/>
              </a:rPr>
              <a:t>实现原理（猜测）· choice：cosine 相似度 + softmax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334000" y="1168400"/>
            <a:ext cx="3175000" cy="2006600"/>
          </a:xfrm>
          <a:prstGeom prst="roundRect">
            <a:avLst>
              <a:gd name="adj" fmla="val 5063"/>
            </a:avLst>
          </a:prstGeom>
          <a:solidFill>
            <a:srgbClr val="F8F9FB">
              <a:alpha val="100000"/>
            </a:srgbClr>
          </a:solidFill>
          <a:ln w="12700" cmpd="sng" cap="flat">
            <a:solidFill>
              <a:srgbClr val="E1E4EA">
                <a:alpha val="100000"/>
              </a:srgbClr>
            </a:solidFill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50">
                <a:solidFill>
                  <a:srgbClr val="282828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true" i="false" strike="noStrike" u="none" sz="1250">
                <a:solidFill>
                  <a:srgbClr val="282828"/>
                </a:solidFill>
                <a:latin typeface="微软雅黑"/>
                <a:ea typeface="微软雅黑"/>
                <a:cs typeface="微软雅黑"/>
                <a:sym typeface="微软雅黑"/>
              </a:rPr>
              <a:t>选项 embedding（可动态增减）</a:t>
            </a:r>
            <a:r>
              <a:rPr lang="en-US" b="false" i="false" strike="noStrike" u="none" sz="1250">
                <a:solidFill>
                  <a:srgbClr val="282828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250">
                <a:solidFill>
                  <a:srgbClr val="282828"/>
                </a:solidFill>
                <a:latin typeface="微软雅黑"/>
                <a:ea typeface="微软雅黑"/>
                <a:cs typeface="微软雅黑"/>
                <a:sym typeface="微软雅黑"/>
              </a:rPr>
              <a:t>· billing_issue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250">
                <a:solidFill>
                  <a:srgbClr val="282828"/>
                </a:solidFill>
                <a:latin typeface="微软雅黑"/>
                <a:ea typeface="微软雅黑"/>
                <a:cs typeface="微软雅黑"/>
                <a:sym typeface="微软雅黑"/>
              </a:rPr>
              <a:t>· technical_support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250">
                <a:solidFill>
                  <a:srgbClr val="282828"/>
                </a:solidFill>
                <a:latin typeface="微软雅黑"/>
                <a:ea typeface="微软雅黑"/>
                <a:cs typeface="微软雅黑"/>
                <a:sym typeface="微软雅黑"/>
              </a:rPr>
              <a:t>· legal_risk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250">
                <a:solidFill>
                  <a:srgbClr val="282828"/>
                </a:solidFill>
                <a:latin typeface="微软雅黑"/>
                <a:ea typeface="微软雅黑"/>
                <a:cs typeface="微软雅黑"/>
                <a:sym typeface="微软雅黑"/>
              </a:rPr>
              <a:t>· general_inquiry</a:t>
            </a:r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3200400"/>
            <a:ext cx="1524000" cy="7112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25400" cmpd="sng" cap="flat">
            <a:solidFill>
              <a:srgbClr val="D22A28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D22A28"/>
                </a:solidFill>
                <a:latin typeface="微软雅黑"/>
                <a:ea typeface="微软雅黑"/>
                <a:cs typeface="微软雅黑"/>
                <a:sym typeface="微软雅黑"/>
              </a:rPr>
              <a:t>hidden state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711200" y="2616200"/>
            <a:ext cx="16256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D22A28"/>
                </a:solidFill>
                <a:latin typeface="微软雅黑"/>
                <a:ea typeface="微软雅黑"/>
                <a:cs typeface="微软雅黑"/>
                <a:sym typeface="微软雅黑"/>
              </a:rPr>
              <a:t>cosine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2946400" y="1371600"/>
            <a:ext cx="1905000" cy="508000"/>
          </a:xfrm>
          <a:prstGeom prst="roundRect">
            <a:avLst>
              <a:gd name="adj" fmla="val 0"/>
            </a:avLst>
          </a:prstGeom>
          <a:solidFill>
            <a:srgbClr val="2B65E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embedding1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2946400" y="1968500"/>
            <a:ext cx="1905000" cy="508000"/>
          </a:xfrm>
          <a:prstGeom prst="roundRect">
            <a:avLst>
              <a:gd name="adj" fmla="val 0"/>
            </a:avLst>
          </a:prstGeom>
          <a:solidFill>
            <a:srgbClr val="2B65E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embedding2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946400" y="2565400"/>
            <a:ext cx="1905000" cy="508000"/>
          </a:xfrm>
          <a:prstGeom prst="roundRect">
            <a:avLst>
              <a:gd name="adj" fmla="val 0"/>
            </a:avLst>
          </a:prstGeom>
          <a:solidFill>
            <a:srgbClr val="2B65E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embedding3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2946400" y="3162300"/>
            <a:ext cx="1905000" cy="508000"/>
          </a:xfrm>
          <a:prstGeom prst="roundRect">
            <a:avLst>
              <a:gd name="adj" fmla="val 0"/>
            </a:avLst>
          </a:prstGeom>
          <a:solidFill>
            <a:srgbClr val="2B65E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embedding4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2946400" y="4114800"/>
            <a:ext cx="1905000" cy="406400"/>
          </a:xfrm>
          <a:prstGeom prst="roundRect">
            <a:avLst>
              <a:gd name="adj" fmla="val 0"/>
            </a:avLst>
          </a:prstGeom>
          <a:solidFill>
            <a:srgbClr val="DBEAF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50">
                <a:solidFill>
                  <a:srgbClr val="1E3C78"/>
                </a:solidFill>
                <a:latin typeface="Consolas"/>
                <a:ea typeface="Consolas"/>
                <a:cs typeface="Consolas"/>
                <a:sym typeface="Consolas"/>
              </a:rPr>
              <a:t>score1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2946400" y="4597400"/>
            <a:ext cx="1905000" cy="406400"/>
          </a:xfrm>
          <a:prstGeom prst="roundRect">
            <a:avLst>
              <a:gd name="adj" fmla="val 0"/>
            </a:avLst>
          </a:prstGeom>
          <a:solidFill>
            <a:srgbClr val="DBEAF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50">
                <a:solidFill>
                  <a:srgbClr val="1E3C78"/>
                </a:solidFill>
                <a:latin typeface="Consolas"/>
                <a:ea typeface="Consolas"/>
                <a:cs typeface="Consolas"/>
                <a:sym typeface="Consolas"/>
              </a:rPr>
              <a:t>score2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2946400" y="5080000"/>
            <a:ext cx="1905000" cy="406400"/>
          </a:xfrm>
          <a:prstGeom prst="roundRect">
            <a:avLst>
              <a:gd name="adj" fmla="val 0"/>
            </a:avLst>
          </a:prstGeom>
          <a:solidFill>
            <a:srgbClr val="DBEAF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50">
                <a:solidFill>
                  <a:srgbClr val="1E3C78"/>
                </a:solidFill>
                <a:latin typeface="Consolas"/>
                <a:ea typeface="Consolas"/>
                <a:cs typeface="Consolas"/>
                <a:sym typeface="Consolas"/>
              </a:rPr>
              <a:t>score3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2946400" y="5562600"/>
            <a:ext cx="1905000" cy="406400"/>
          </a:xfrm>
          <a:prstGeom prst="roundRect">
            <a:avLst>
              <a:gd name="adj" fmla="val 0"/>
            </a:avLst>
          </a:prstGeom>
          <a:solidFill>
            <a:srgbClr val="DBEAF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50">
                <a:solidFill>
                  <a:srgbClr val="1E3C78"/>
                </a:solidFill>
                <a:latin typeface="Consolas"/>
                <a:ea typeface="Consolas"/>
                <a:cs typeface="Consolas"/>
                <a:sym typeface="Consolas"/>
              </a:rPr>
              <a:t>score4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5334000" y="4572000"/>
            <a:ext cx="1219200" cy="736600"/>
          </a:xfrm>
          <a:prstGeom prst="roundRect">
            <a:avLst>
              <a:gd name="adj" fmla="val 13793"/>
            </a:avLst>
          </a:prstGeom>
          <a:solidFill>
            <a:srgbClr val="2B65E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softmax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061200" y="3810000"/>
            <a:ext cx="1905000" cy="4572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2B65E8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50">
                <a:solidFill>
                  <a:srgbClr val="1E3C78"/>
                </a:solidFill>
                <a:latin typeface="Consolas"/>
                <a:ea typeface="Consolas"/>
                <a:cs typeface="Consolas"/>
                <a:sym typeface="Consolas"/>
              </a:rPr>
              <a:t>P1 = 0.80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061200" y="4368800"/>
            <a:ext cx="1905000" cy="4572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2B65E8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50">
                <a:solidFill>
                  <a:srgbClr val="1E3C78"/>
                </a:solidFill>
                <a:latin typeface="Consolas"/>
                <a:ea typeface="Consolas"/>
                <a:cs typeface="Consolas"/>
                <a:sym typeface="Consolas"/>
              </a:rPr>
              <a:t>P2 = 0.10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061200" y="4927600"/>
            <a:ext cx="1905000" cy="4572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2B65E8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50">
                <a:solidFill>
                  <a:srgbClr val="1E3C78"/>
                </a:solidFill>
                <a:latin typeface="Consolas"/>
                <a:ea typeface="Consolas"/>
                <a:cs typeface="Consolas"/>
                <a:sym typeface="Consolas"/>
              </a:rPr>
              <a:t>P3 = 0.07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061200" y="5486400"/>
            <a:ext cx="1905000" cy="4572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2B65E8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50">
                <a:solidFill>
                  <a:srgbClr val="1E3C78"/>
                </a:solidFill>
                <a:latin typeface="Consolas"/>
                <a:ea typeface="Consolas"/>
                <a:cs typeface="Consolas"/>
                <a:sym typeface="Consolas"/>
              </a:rPr>
              <a:t>P4 = 0.03</a:t>
            </a:r>
            <a:endParaRPr lang="en-US" sz="1100"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9194800" y="4572000"/>
            <a:ext cx="254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D22A28"/>
                </a:solidFill>
                <a:latin typeface="Consolas"/>
                <a:ea typeface="Consolas"/>
                <a:cs typeface="Consolas"/>
                <a:sym typeface="Consolas"/>
              </a:rPr>
              <a:t>P1 : 0.8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3212714" flipH="false" flipV="false">
            <a:off x="2077737" y="2952719"/>
            <a:ext cx="1051572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D22A28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name="Connector 21" id="21"/>
          <p:cNvCxnSpPr/>
          <p:nvPr/>
        </p:nvCxnSpPr>
        <p:spPr>
          <a:xfrm rot="3855478" flipH="false" flipV="false">
            <a:off x="1859287" y="4400575"/>
            <a:ext cx="1488449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D22A28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name="Connector 22" id="22"/>
          <p:cNvCxnSpPr/>
          <p:nvPr/>
        </p:nvCxnSpPr>
        <p:spPr>
          <a:xfrm rot="-286111" flipH="false" flipV="false">
            <a:off x="4851135" y="4959345"/>
            <a:ext cx="457905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B65E8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name="Connector 23" id="23"/>
          <p:cNvCxnSpPr/>
          <p:nvPr/>
        </p:nvCxnSpPr>
        <p:spPr>
          <a:xfrm rot="-90446" flipH="false" flipV="false">
            <a:off x="6553284" y="4946650"/>
            <a:ext cx="482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B65E8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name="Connector 24" id="24"/>
          <p:cNvCxnSpPr/>
          <p:nvPr/>
        </p:nvCxnSpPr>
        <p:spPr>
          <a:xfrm rot="-214580" flipH="false" flipV="false">
            <a:off x="8966398" y="4946650"/>
            <a:ext cx="203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D22A28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635000" y="330200"/>
            <a:ext cx="10922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100">
                <a:solidFill>
                  <a:srgbClr val="1E1E1E"/>
                </a:solidFill>
                <a:latin typeface="微软雅黑"/>
                <a:ea typeface="微软雅黑"/>
                <a:cs typeface="微软雅黑"/>
                <a:sym typeface="微软雅黑"/>
              </a:rPr>
              <a:t>实现原理（猜测）· score：各档概率加权求和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334000" y="1168400"/>
            <a:ext cx="3175000" cy="2006600"/>
          </a:xfrm>
          <a:prstGeom prst="roundRect">
            <a:avLst>
              <a:gd name="adj" fmla="val 5063"/>
            </a:avLst>
          </a:prstGeom>
          <a:solidFill>
            <a:srgbClr val="F8F9FB">
              <a:alpha val="100000"/>
            </a:srgbClr>
          </a:solidFill>
          <a:ln w="12700" cmpd="sng" cap="flat">
            <a:solidFill>
              <a:srgbClr val="E1E4EA">
                <a:alpha val="100000"/>
              </a:srgbClr>
            </a:solidFill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50">
                <a:solidFill>
                  <a:srgbClr val="282828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true" i="false" strike="noStrike" u="none" sz="1250">
                <a:solidFill>
                  <a:srgbClr val="282828"/>
                </a:solidFill>
                <a:latin typeface="微软雅黑"/>
                <a:ea typeface="微软雅黑"/>
                <a:cs typeface="微软雅黑"/>
                <a:sym typeface="微软雅黑"/>
              </a:rPr>
              <a:t>有序打分档位（同一维度）</a:t>
            </a:r>
            <a:r>
              <a:rPr lang="en-US" b="false" i="false" strike="noStrike" u="none" sz="1250">
                <a:solidFill>
                  <a:srgbClr val="282828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250">
                <a:solidFill>
                  <a:srgbClr val="282828"/>
                </a:solidFill>
                <a:latin typeface="微软雅黑"/>
                <a:ea typeface="微软雅黑"/>
                <a:cs typeface="微软雅黑"/>
                <a:sym typeface="微软雅黑"/>
              </a:rPr>
              <a:t>1 轻微　2 轻度　3 中度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250">
                <a:solidFill>
                  <a:srgbClr val="282828"/>
                </a:solidFill>
                <a:latin typeface="微软雅黑"/>
                <a:ea typeface="微软雅黑"/>
                <a:cs typeface="微软雅黑"/>
                <a:sym typeface="微软雅黑"/>
              </a:rPr>
              <a:t>4 严重　5 危急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250">
                <a:solidFill>
                  <a:srgbClr val="282828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250">
                <a:solidFill>
                  <a:srgbClr val="282828"/>
                </a:solidFill>
                <a:latin typeface="微软雅黑"/>
                <a:ea typeface="微软雅黑"/>
                <a:cs typeface="微软雅黑"/>
                <a:sym typeface="微软雅黑"/>
              </a:rPr>
              <a:t>每档对应一个 embedding</a:t>
            </a:r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3200400"/>
            <a:ext cx="1524000" cy="7112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25400" cmpd="sng" cap="flat">
            <a:solidFill>
              <a:srgbClr val="D22A28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D22A28"/>
                </a:solidFill>
                <a:latin typeface="微软雅黑"/>
                <a:ea typeface="微软雅黑"/>
                <a:cs typeface="微软雅黑"/>
                <a:sym typeface="微软雅黑"/>
              </a:rPr>
              <a:t>hidden state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711200" y="2616200"/>
            <a:ext cx="16256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D22A28"/>
                </a:solidFill>
                <a:latin typeface="微软雅黑"/>
                <a:ea typeface="微软雅黑"/>
                <a:cs typeface="微软雅黑"/>
                <a:sym typeface="微软雅黑"/>
              </a:rPr>
              <a:t>cosine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2946400" y="1371600"/>
            <a:ext cx="1905000" cy="508000"/>
          </a:xfrm>
          <a:prstGeom prst="roundRect">
            <a:avLst>
              <a:gd name="adj" fmla="val 0"/>
            </a:avLst>
          </a:prstGeom>
          <a:solidFill>
            <a:srgbClr val="2B65E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embedding1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2946400" y="1968500"/>
            <a:ext cx="1905000" cy="508000"/>
          </a:xfrm>
          <a:prstGeom prst="roundRect">
            <a:avLst>
              <a:gd name="adj" fmla="val 0"/>
            </a:avLst>
          </a:prstGeom>
          <a:solidFill>
            <a:srgbClr val="2B65E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embedding2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946400" y="2565400"/>
            <a:ext cx="1905000" cy="508000"/>
          </a:xfrm>
          <a:prstGeom prst="roundRect">
            <a:avLst>
              <a:gd name="adj" fmla="val 0"/>
            </a:avLst>
          </a:prstGeom>
          <a:solidFill>
            <a:srgbClr val="2B65E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embedding3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2946400" y="3162300"/>
            <a:ext cx="1905000" cy="508000"/>
          </a:xfrm>
          <a:prstGeom prst="roundRect">
            <a:avLst>
              <a:gd name="adj" fmla="val 0"/>
            </a:avLst>
          </a:prstGeom>
          <a:solidFill>
            <a:srgbClr val="2B65E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embedding4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2946400" y="4114800"/>
            <a:ext cx="1905000" cy="406400"/>
          </a:xfrm>
          <a:prstGeom prst="roundRect">
            <a:avLst>
              <a:gd name="adj" fmla="val 0"/>
            </a:avLst>
          </a:prstGeom>
          <a:solidFill>
            <a:srgbClr val="DBEAF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50">
                <a:solidFill>
                  <a:srgbClr val="1E3C78"/>
                </a:solidFill>
                <a:latin typeface="Consolas"/>
                <a:ea typeface="Consolas"/>
                <a:cs typeface="Consolas"/>
                <a:sym typeface="Consolas"/>
              </a:rPr>
              <a:t>score1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2946400" y="4597400"/>
            <a:ext cx="1905000" cy="406400"/>
          </a:xfrm>
          <a:prstGeom prst="roundRect">
            <a:avLst>
              <a:gd name="adj" fmla="val 0"/>
            </a:avLst>
          </a:prstGeom>
          <a:solidFill>
            <a:srgbClr val="DBEAF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50">
                <a:solidFill>
                  <a:srgbClr val="1E3C78"/>
                </a:solidFill>
                <a:latin typeface="Consolas"/>
                <a:ea typeface="Consolas"/>
                <a:cs typeface="Consolas"/>
                <a:sym typeface="Consolas"/>
              </a:rPr>
              <a:t>score2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2946400" y="5080000"/>
            <a:ext cx="1905000" cy="406400"/>
          </a:xfrm>
          <a:prstGeom prst="roundRect">
            <a:avLst>
              <a:gd name="adj" fmla="val 0"/>
            </a:avLst>
          </a:prstGeom>
          <a:solidFill>
            <a:srgbClr val="DBEAF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50">
                <a:solidFill>
                  <a:srgbClr val="1E3C78"/>
                </a:solidFill>
                <a:latin typeface="Consolas"/>
                <a:ea typeface="Consolas"/>
                <a:cs typeface="Consolas"/>
                <a:sym typeface="Consolas"/>
              </a:rPr>
              <a:t>score3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2946400" y="5562600"/>
            <a:ext cx="1905000" cy="406400"/>
          </a:xfrm>
          <a:prstGeom prst="roundRect">
            <a:avLst>
              <a:gd name="adj" fmla="val 0"/>
            </a:avLst>
          </a:prstGeom>
          <a:solidFill>
            <a:srgbClr val="DBEAF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50">
                <a:solidFill>
                  <a:srgbClr val="1E3C78"/>
                </a:solidFill>
                <a:latin typeface="Consolas"/>
                <a:ea typeface="Consolas"/>
                <a:cs typeface="Consolas"/>
                <a:sym typeface="Consolas"/>
              </a:rPr>
              <a:t>score4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5334000" y="4572000"/>
            <a:ext cx="1219200" cy="736600"/>
          </a:xfrm>
          <a:prstGeom prst="roundRect">
            <a:avLst>
              <a:gd name="adj" fmla="val 13793"/>
            </a:avLst>
          </a:prstGeom>
          <a:solidFill>
            <a:srgbClr val="2B65E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softmax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061200" y="3810000"/>
            <a:ext cx="1905000" cy="4572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2B65E8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50">
                <a:solidFill>
                  <a:srgbClr val="1E3C78"/>
                </a:solidFill>
                <a:latin typeface="Consolas"/>
                <a:ea typeface="Consolas"/>
                <a:cs typeface="Consolas"/>
                <a:sym typeface="Consolas"/>
              </a:rPr>
              <a:t>P1 (1分)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061200" y="4368800"/>
            <a:ext cx="1905000" cy="4572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2B65E8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50">
                <a:solidFill>
                  <a:srgbClr val="1E3C78"/>
                </a:solidFill>
                <a:latin typeface="Consolas"/>
                <a:ea typeface="Consolas"/>
                <a:cs typeface="Consolas"/>
                <a:sym typeface="Consolas"/>
              </a:rPr>
              <a:t>P2 (2分)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061200" y="4927600"/>
            <a:ext cx="1905000" cy="4572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2B65E8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50">
                <a:solidFill>
                  <a:srgbClr val="1E3C78"/>
                </a:solidFill>
                <a:latin typeface="Consolas"/>
                <a:ea typeface="Consolas"/>
                <a:cs typeface="Consolas"/>
                <a:sym typeface="Consolas"/>
              </a:rPr>
              <a:t>P3 (3分)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061200" y="5486400"/>
            <a:ext cx="1905000" cy="4572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2B65E8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50">
                <a:solidFill>
                  <a:srgbClr val="1E3C78"/>
                </a:solidFill>
                <a:latin typeface="Consolas"/>
                <a:ea typeface="Consolas"/>
                <a:cs typeface="Consolas"/>
                <a:sym typeface="Consolas"/>
              </a:rPr>
              <a:t>P4 (4分)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9347200" y="4419600"/>
            <a:ext cx="2159000" cy="1016000"/>
          </a:xfrm>
          <a:prstGeom prst="roundRect">
            <a:avLst>
              <a:gd name="adj" fmla="val 10000"/>
            </a:avLst>
          </a:prstGeom>
          <a:solidFill>
            <a:srgbClr val="26A67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加权求和</a:t>
            </a:r>
            <a:endParaRPr lang="en-US" sz="1100"/>
          </a:p>
          <a:p>
            <a:pPr algn="ctr" marL="0" indent="0">
              <a:lnSpc>
                <a:spcPct val="116666"/>
              </a:lnSpc>
            </a:pPr>
            <a:r>
              <a:rPr lang="en-US" b="true" i="false" strike="noStrike" u="none" sz="12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Σ(概率 × 分数)</a:t>
            </a:r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9347200" y="5588000"/>
            <a:ext cx="2159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D22A28"/>
                </a:solidFill>
                <a:latin typeface="Consolas"/>
                <a:ea typeface="Consolas"/>
                <a:cs typeface="Consolas"/>
                <a:sym typeface="Consolas"/>
              </a:rPr>
              <a:t>= 3.7</a:t>
            </a:r>
            <a:endParaRPr lang="en-US" sz="1100"/>
          </a:p>
        </p:txBody>
      </p:sp>
      <p:cxnSp>
        <p:nvCxnSpPr>
          <p:cNvPr name="Connector 21" id="21"/>
          <p:cNvCxnSpPr/>
          <p:nvPr/>
        </p:nvCxnSpPr>
        <p:spPr>
          <a:xfrm rot="-3212714" flipH="false" flipV="false">
            <a:off x="2077737" y="2952719"/>
            <a:ext cx="1051572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D22A28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name="Connector 22" id="22"/>
          <p:cNvCxnSpPr/>
          <p:nvPr/>
        </p:nvCxnSpPr>
        <p:spPr>
          <a:xfrm rot="3855478" flipH="false" flipV="false">
            <a:off x="1859287" y="4400575"/>
            <a:ext cx="1488449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D22A28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name="Connector 23" id="23"/>
          <p:cNvCxnSpPr/>
          <p:nvPr/>
        </p:nvCxnSpPr>
        <p:spPr>
          <a:xfrm rot="-286111" flipH="false" flipV="false">
            <a:off x="4851135" y="4959345"/>
            <a:ext cx="457905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B65E8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name="Connector 24" id="24"/>
          <p:cNvCxnSpPr/>
          <p:nvPr/>
        </p:nvCxnSpPr>
        <p:spPr>
          <a:xfrm rot="-90446" flipH="false" flipV="false">
            <a:off x="6553284" y="4946650"/>
            <a:ext cx="482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B65E8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name="Connector 25" id="25"/>
          <p:cNvCxnSpPr/>
          <p:nvPr/>
        </p:nvCxnSpPr>
        <p:spPr>
          <a:xfrm rot="-122724" flipH="false" flipV="false">
            <a:off x="8966313" y="4946650"/>
            <a:ext cx="355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6A676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635000" y="381000"/>
            <a:ext cx="10922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1E1E1E"/>
                </a:solidFill>
                <a:latin typeface="微软雅黑"/>
                <a:ea typeface="微软雅黑"/>
                <a:cs typeface="微软雅黑"/>
                <a:sym typeface="微软雅黑"/>
              </a:rPr>
              <a:t>实现原理（猜测）· noul：二分类头 + sigmoid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2159000"/>
            <a:ext cx="2159000" cy="1066800"/>
          </a:xfrm>
          <a:prstGeom prst="roundRect">
            <a:avLst>
              <a:gd name="adj" fmla="val 11904"/>
            </a:avLst>
          </a:prstGeom>
          <a:solidFill>
            <a:srgbClr val="FFFFFF">
              <a:alpha val="100000"/>
            </a:srgbClr>
          </a:solidFill>
          <a:ln w="25400" cmpd="sng" cap="flat">
            <a:solidFill>
              <a:srgbClr val="D22A28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D22A28"/>
                </a:solidFill>
                <a:latin typeface="微软雅黑"/>
                <a:ea typeface="微软雅黑"/>
                <a:cs typeface="微软雅黑"/>
                <a:sym typeface="微软雅黑"/>
              </a:rPr>
              <a:t>hidden state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4953000" y="2159000"/>
            <a:ext cx="2159000" cy="1066800"/>
          </a:xfrm>
          <a:prstGeom prst="roundRect">
            <a:avLst>
              <a:gd name="adj" fmla="val 11904"/>
            </a:avLst>
          </a:prstGeom>
          <a:solidFill>
            <a:srgbClr val="2B65E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二分类头</a:t>
            </a:r>
            <a:endParaRPr lang="en-US" sz="1100"/>
          </a:p>
          <a:p>
            <a:pPr algn="ctr" marL="0" indent="0">
              <a:lnSpc>
                <a:spcPct val="108333"/>
              </a:lnSpc>
            </a:pPr>
            <a:r>
              <a:rPr lang="en-US" b="true" i="false" strike="noStrike" u="none" sz="12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linear head</a:t>
            </a:r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4953000" y="1676400"/>
            <a:ext cx="2159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D22A28"/>
                </a:solidFill>
                <a:latin typeface="Consolas"/>
                <a:ea typeface="Consolas"/>
                <a:cs typeface="Consolas"/>
                <a:sym typeface="Consolas"/>
              </a:rPr>
              <a:t>sigmoid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890000" y="2159000"/>
            <a:ext cx="2159000" cy="1066800"/>
          </a:xfrm>
          <a:prstGeom prst="roundRect">
            <a:avLst>
              <a:gd name="adj" fmla="val 11904"/>
            </a:avLst>
          </a:prstGeom>
          <a:solidFill>
            <a:srgbClr val="26A67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得分 (0 - 1)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24910" flipH="false" flipV="false">
            <a:off x="3175023" y="2686050"/>
            <a:ext cx="1752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B65E8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name="Connector 8" id="8"/>
          <p:cNvCxnSpPr/>
          <p:nvPr/>
        </p:nvCxnSpPr>
        <p:spPr>
          <a:xfrm rot="-24910" flipH="false" flipV="false">
            <a:off x="7112023" y="2686050"/>
            <a:ext cx="1752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B65E8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7112000" y="3937000"/>
            <a:ext cx="4064000" cy="1397000"/>
          </a:xfrm>
          <a:prstGeom prst="roundRect">
            <a:avLst>
              <a:gd name="adj" fmla="val 9090"/>
            </a:avLst>
          </a:prstGeom>
          <a:solidFill>
            <a:srgbClr val="F8F9FB">
              <a:alpha val="100000"/>
            </a:srgbClr>
          </a:solidFill>
          <a:ln w="12700" cmpd="sng" cap="flat">
            <a:solidFill>
              <a:srgbClr val="E1E4EA">
                <a:alpha val="100000"/>
              </a:srgbClr>
            </a:solidFill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282828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282828"/>
                </a:solidFill>
                <a:latin typeface="Consolas"/>
                <a:ea typeface="Consolas"/>
                <a:cs typeface="Consolas"/>
                <a:sym typeface="Consolas"/>
              </a:rPr>
              <a:t>true　</a:t>
            </a:r>
            <a:r>
              <a:rPr lang="en-US" b="true" i="false" strike="noStrike" u="none" sz="1600">
                <a:solidFill>
                  <a:srgbClr val="D22A28"/>
                </a:solidFill>
                <a:latin typeface="Consolas"/>
                <a:ea typeface="Consolas"/>
                <a:cs typeface="Consolas"/>
                <a:sym typeface="Consolas"/>
              </a:rPr>
              <a:t>0.9</a:t>
            </a:r>
            <a:r>
              <a:rPr lang="en-US" b="false" i="false" strike="noStrike" u="none" sz="1600">
                <a:solidFill>
                  <a:srgbClr val="282828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282828"/>
                </a:solidFill>
                <a:latin typeface="Consolas"/>
                <a:ea typeface="Consolas"/>
                <a:cs typeface="Consolas"/>
                <a:sym typeface="Consolas"/>
              </a:rPr>
              <a:t>false　</a:t>
            </a:r>
            <a:r>
              <a:rPr lang="en-US" b="false" i="false" strike="noStrike" u="none" sz="1600">
                <a:solidFill>
                  <a:srgbClr val="787878"/>
                </a:solidFill>
                <a:latin typeface="Consolas"/>
                <a:ea typeface="Consolas"/>
                <a:cs typeface="Consolas"/>
                <a:sym typeface="Consolas"/>
              </a:rPr>
              <a:t>0.1</a:t>
            </a:r>
          </a:p>
        </p:txBody>
      </p:sp>
      <p:cxnSp>
        <p:nvCxnSpPr>
          <p:cNvPr name="Connector 10" id="10"/>
          <p:cNvCxnSpPr/>
          <p:nvPr/>
        </p:nvCxnSpPr>
        <p:spPr>
          <a:xfrm rot="7739431" flipH="false" flipV="false">
            <a:off x="9237365" y="3562385"/>
            <a:ext cx="892712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B65E8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11" id="11"/>
          <p:cNvSpPr txBox="true"/>
          <p:nvPr/>
        </p:nvSpPr>
        <p:spPr>
          <a:xfrm rot="0" flipH="false" flipV="false">
            <a:off x="1016000" y="4013200"/>
            <a:ext cx="5334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500">
                <a:solidFill>
                  <a:srgbClr val="282828"/>
                </a:solidFill>
                <a:latin typeface="微软雅黑"/>
                <a:ea typeface="微软雅黑"/>
                <a:cs typeface="微软雅黑"/>
                <a:sym typeface="微软雅黑"/>
              </a:rPr>
              <a:t>隐状态过一个二分类头，经 sigmoid 输出 0-1 的概率。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500">
                <a:solidFill>
                  <a:srgbClr val="282828"/>
                </a:solidFill>
                <a:latin typeface="微软雅黑"/>
                <a:ea typeface="微软雅黑"/>
                <a:cs typeface="微软雅黑"/>
                <a:sym typeface="微软雅黑"/>
              </a:rPr>
              <a:t>超过业务阈值即判 </a:t>
            </a:r>
            <a:r>
              <a:rPr lang="en-US" b="true" i="false" strike="noStrike" u="none" sz="1500">
                <a:solidFill>
                  <a:srgbClr val="D22A28"/>
                </a:solidFill>
                <a:latin typeface="微软雅黑"/>
                <a:ea typeface="微软雅黑"/>
                <a:cs typeface="微软雅黑"/>
                <a:sym typeface="微软雅黑"/>
              </a:rPr>
              <a:t>true</a:t>
            </a:r>
            <a:r>
              <a:rPr lang="en-US" b="false" i="false" strike="noStrike" u="none" sz="1500">
                <a:solidFill>
                  <a:srgbClr val="282828"/>
                </a:solidFill>
                <a:latin typeface="微软雅黑"/>
                <a:ea typeface="微软雅黑"/>
                <a:cs typeface="微软雅黑"/>
                <a:sym typeface="微软雅黑"/>
              </a:rPr>
              <a:t>，否则为 false。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500">
                <a:solidFill>
                  <a:srgbClr val="282828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2000">
                <a:solidFill>
                  <a:srgbClr val="D22A28"/>
                </a:solidFill>
                <a:latin typeface="微软雅黑"/>
                <a:ea typeface="微软雅黑"/>
                <a:cs typeface="微软雅黑"/>
                <a:sym typeface="微软雅黑"/>
              </a:rPr>
              <a:t>最终输出：true（0.9）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762000" y="1905000"/>
            <a:ext cx="1066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D22A28"/>
                </a:solidFill>
                <a:latin typeface="微软雅黑"/>
                <a:ea typeface="微软雅黑"/>
                <a:cs typeface="微软雅黑"/>
                <a:sym typeface="微软雅黑"/>
              </a:rPr>
              <a:t>RLCD：一种强化学习的打分标志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9549" flipH="false" flipV="false">
            <a:off x="3810009" y="31178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D22A2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 txBox="true"/>
          <p:nvPr/>
        </p:nvSpPr>
        <p:spPr>
          <a:xfrm rot="0" flipH="false" flipV="false">
            <a:off x="1270000" y="3505200"/>
            <a:ext cx="965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700">
                <a:solidFill>
                  <a:srgbClr val="5A5A5A"/>
                </a:solidFill>
                <a:latin typeface="微软雅黑"/>
                <a:ea typeface="微软雅黑"/>
                <a:cs typeface="微软雅黑"/>
                <a:sym typeface="微软雅黑"/>
              </a:rPr>
              <a:t>让模型学会"自我评价"——把输出概率校准到与真实正确率一致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270000" y="4572000"/>
            <a:ext cx="965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969696"/>
                </a:solidFill>
                <a:latin typeface="微软雅黑"/>
                <a:ea typeface="微软雅黑"/>
                <a:cs typeface="微软雅黑"/>
                <a:sym typeface="微软雅黑"/>
              </a:rPr>
              <a:t>Jev 不追求回答"像不像人"，而是追求"判断准不准、置信度可不可信"。</a:t>
            </a:r>
            <a:endParaRPr lang="en-US" sz="1100"/>
          </a:p>
          <a:p>
            <a:pPr algn="ctr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969696"/>
                </a:solidFill>
                <a:latin typeface="微软雅黑"/>
                <a:ea typeface="微软雅黑"/>
                <a:cs typeface="微软雅黑"/>
                <a:sym typeface="微软雅黑"/>
              </a:rPr>
              <a:t>（RLCD 为 UP 主基于公开资料与实测的推测，模型未开源、无论文）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889000" y="787400"/>
            <a:ext cx="10414000" cy="52959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889000" y="787400"/>
            <a:ext cx="10414000" cy="52959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635000" y="330200"/>
            <a:ext cx="10922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100">
                <a:solidFill>
                  <a:srgbClr val="1E1E1E"/>
                </a:solidFill>
                <a:latin typeface="微软雅黑"/>
                <a:ea typeface="微软雅黑"/>
                <a:cs typeface="微软雅黑"/>
                <a:sym typeface="微软雅黑"/>
              </a:rPr>
              <a:t>关键：要的不是"分类准"，而是"自我评价准"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635000" y="990600"/>
            <a:ext cx="5334000" cy="4648200"/>
          </a:xfrm>
          <a:prstGeom prst="roundRect">
            <a:avLst>
              <a:gd name="adj" fmla="val 2732"/>
            </a:avLst>
          </a:prstGeom>
          <a:solidFill>
            <a:srgbClr val="F8F9FB">
              <a:alpha val="100000"/>
            </a:srgbClr>
          </a:solidFill>
          <a:ln w="12700" cmpd="sng" cap="flat">
            <a:solidFill>
              <a:srgbClr val="E1E4EA">
                <a:alpha val="100000"/>
              </a:srgbClr>
            </a:solidFill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marL="0" indent="0">
              <a:lnSpc>
                <a:spcPct val="129166"/>
              </a:lnSpc>
              <a:defRPr/>
            </a:pPr>
            <a:r>
              <a:rPr lang="en-US" b="false" i="false" strike="noStrike" u="none" sz="1400">
                <a:solidFill>
                  <a:srgbClr val="282828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endParaRPr lang="en-US" sz="1100"/>
          </a:p>
          <a:p>
            <a:pPr algn="ctr" marL="0" indent="0">
              <a:lnSpc>
                <a:spcPct val="129166"/>
              </a:lnSpc>
            </a:pPr>
            <a:r>
              <a:rPr lang="en-US" b="true" i="false" strike="noStrike" u="none" sz="1400">
                <a:solidFill>
                  <a:srgbClr val="282828"/>
                </a:solidFill>
                <a:latin typeface="微软雅黑"/>
                <a:ea typeface="微软雅黑"/>
                <a:cs typeface="微软雅黑"/>
                <a:sym typeface="微软雅黑"/>
              </a:rPr>
              <a:t>数字示例：置信度 vs 真实准确率</a:t>
            </a:r>
            <a:r>
              <a:rPr lang="en-US" b="false" i="false" strike="noStrike" u="none" sz="1400">
                <a:solidFill>
                  <a:srgbClr val="282828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</a:p>
          <a:p>
            <a:pPr algn="ctr" marL="0" indent="0">
              <a:lnSpc>
                <a:spcPct val="129166"/>
              </a:lnSpc>
            </a:pPr>
            <a:r>
              <a:rPr lang="en-US" b="false" i="false" strike="noStrike" u="none" sz="1400">
                <a:solidFill>
                  <a:srgbClr val="282828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</a:p>
          <a:p>
            <a:pPr algn="ctr" marL="0" indent="0">
              <a:lnSpc>
                <a:spcPct val="129166"/>
              </a:lnSpc>
            </a:pPr>
            <a:r>
              <a:rPr lang="en-US" b="false" i="false" strike="noStrike" u="none" sz="1400">
                <a:solidFill>
                  <a:srgbClr val="282828"/>
                </a:solidFill>
                <a:latin typeface="微软雅黑"/>
                <a:ea typeface="微软雅黑"/>
                <a:cs typeface="微软雅黑"/>
                <a:sym typeface="微软雅黑"/>
              </a:rPr>
              <a:t>100 张图都判为"狗"，自报置信度 0.25：</a:t>
            </a:r>
          </a:p>
          <a:p>
            <a:pPr algn="ctr" marL="0" indent="0">
              <a:lnSpc>
                <a:spcPct val="129166"/>
              </a:lnSpc>
            </a:pPr>
            <a:r>
              <a:rPr lang="en-US" b="false" i="false" strike="noStrike" u="none" sz="1400">
                <a:solidFill>
                  <a:srgbClr val="282828"/>
                </a:solidFill>
                <a:latin typeface="微软雅黑"/>
                <a:ea typeface="微软雅黑"/>
                <a:cs typeface="微软雅黑"/>
                <a:sym typeface="微软雅黑"/>
              </a:rPr>
              <a:t>· 实际只有 30 张是狗 → 真实率 0.30</a:t>
            </a:r>
          </a:p>
          <a:p>
            <a:pPr algn="ctr" marL="0" indent="0">
              <a:lnSpc>
                <a:spcPct val="129166"/>
              </a:lnSpc>
            </a:pPr>
            <a:r>
              <a:rPr lang="en-US" b="false" i="false" strike="noStrike" u="none" sz="1400">
                <a:solidFill>
                  <a:srgbClr val="282828"/>
                </a:solidFill>
                <a:latin typeface="微软雅黑"/>
                <a:ea typeface="微软雅黑"/>
                <a:cs typeface="微软雅黑"/>
                <a:sym typeface="微软雅黑"/>
              </a:rPr>
              <a:t>· 恰好 25 张是狗 → </a:t>
            </a:r>
            <a:r>
              <a:rPr lang="en-US" b="true" i="false" strike="noStrike" u="none" sz="1400">
                <a:solidFill>
                  <a:srgbClr val="26A676"/>
                </a:solidFill>
                <a:latin typeface="微软雅黑"/>
                <a:ea typeface="微软雅黑"/>
                <a:cs typeface="微软雅黑"/>
                <a:sym typeface="微软雅黑"/>
              </a:rPr>
              <a:t>自我评价准</a:t>
            </a:r>
            <a:r>
              <a:rPr lang="en-US" b="false" i="false" strike="noStrike" u="none" sz="1400">
                <a:solidFill>
                  <a:srgbClr val="282828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</a:p>
          <a:p>
            <a:pPr algn="ctr" marL="0" indent="0">
              <a:lnSpc>
                <a:spcPct val="129166"/>
              </a:lnSpc>
            </a:pPr>
            <a:r>
              <a:rPr lang="en-US" b="false" i="false" strike="noStrike" u="none" sz="1400">
                <a:solidFill>
                  <a:srgbClr val="282828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</a:p>
          <a:p>
            <a:pPr algn="ctr" marL="0" indent="0">
              <a:lnSpc>
                <a:spcPct val="129166"/>
              </a:lnSpc>
            </a:pPr>
            <a:r>
              <a:rPr lang="en-US" b="false" i="false" strike="noStrike" u="none" sz="1400">
                <a:solidFill>
                  <a:srgbClr val="282828"/>
                </a:solidFill>
                <a:latin typeface="微软雅黑"/>
                <a:ea typeface="微软雅黑"/>
                <a:cs typeface="微软雅黑"/>
                <a:sym typeface="微软雅黑"/>
              </a:rPr>
              <a:t>80 张图判为"狗"，自报置信度 0.70：</a:t>
            </a:r>
          </a:p>
          <a:p>
            <a:pPr algn="ctr" marL="0" indent="0">
              <a:lnSpc>
                <a:spcPct val="129166"/>
              </a:lnSpc>
            </a:pPr>
            <a:r>
              <a:rPr lang="en-US" b="false" i="false" strike="noStrike" u="none" sz="1400">
                <a:solidFill>
                  <a:srgbClr val="282828"/>
                </a:solidFill>
                <a:latin typeface="微软雅黑"/>
                <a:ea typeface="微软雅黑"/>
                <a:cs typeface="微软雅黑"/>
                <a:sym typeface="微软雅黑"/>
              </a:rPr>
              <a:t>· 实际约 56 张（0.70）→ </a:t>
            </a:r>
            <a:r>
              <a:rPr lang="en-US" b="true" i="false" strike="noStrike" u="none" sz="1400">
                <a:solidFill>
                  <a:srgbClr val="26A676"/>
                </a:solidFill>
                <a:latin typeface="微软雅黑"/>
                <a:ea typeface="微软雅黑"/>
                <a:cs typeface="微软雅黑"/>
                <a:sym typeface="微软雅黑"/>
              </a:rPr>
              <a:t>自我评价准</a:t>
            </a:r>
            <a:r>
              <a:rPr lang="en-US" b="false" i="false" strike="noStrike" u="none" sz="1400">
                <a:solidFill>
                  <a:srgbClr val="282828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</a:p>
          <a:p>
            <a:pPr algn="ctr" marL="0" indent="0">
              <a:lnSpc>
                <a:spcPct val="129166"/>
              </a:lnSpc>
            </a:pPr>
            <a:r>
              <a:rPr lang="en-US" b="false" i="false" strike="noStrike" u="none" sz="1400">
                <a:solidFill>
                  <a:srgbClr val="282828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</a:p>
          <a:p>
            <a:pPr algn="ctr" marL="0" indent="0">
              <a:lnSpc>
                <a:spcPct val="129166"/>
              </a:lnSpc>
            </a:pPr>
            <a:r>
              <a:rPr lang="en-US" b="false" i="false" strike="noStrike" u="none" sz="1400">
                <a:solidFill>
                  <a:srgbClr val="5A5A5A"/>
                </a:solidFill>
                <a:latin typeface="微软雅黑"/>
                <a:ea typeface="微软雅黑"/>
                <a:cs typeface="微软雅黑"/>
                <a:sym typeface="微软雅黑"/>
              </a:rPr>
              <a:t>分类可以错，但每次"有多大把握"必须说准。</a:t>
            </a:r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223000" y="990600"/>
            <a:ext cx="5334000" cy="4648200"/>
          </a:xfrm>
          <a:prstGeom prst="roundRect">
            <a:avLst>
              <a:gd name="adj" fmla="val 2732"/>
            </a:avLst>
          </a:prstGeom>
          <a:solidFill>
            <a:srgbClr val="EEF6FF">
              <a:alpha val="100000"/>
            </a:srgbClr>
          </a:solidFill>
          <a:ln w="12700" cmpd="sng" cap="flat">
            <a:solidFill>
              <a:srgbClr val="2B65E8">
                <a:alpha val="100000"/>
              </a:srgbClr>
            </a:solidFill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marL="0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1E325A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endParaRPr lang="en-US" sz="1100"/>
          </a:p>
          <a:p>
            <a:pPr algn="ctr" marL="0" indent="0">
              <a:lnSpc>
                <a:spcPct val="133333"/>
              </a:lnSpc>
            </a:pPr>
            <a:r>
              <a:rPr lang="en-US" b="true" i="false" strike="noStrike" u="none" sz="1400">
                <a:solidFill>
                  <a:srgbClr val="2B65E8"/>
                </a:solidFill>
                <a:latin typeface="微软雅黑"/>
                <a:ea typeface="微软雅黑"/>
                <a:cs typeface="微软雅黑"/>
                <a:sym typeface="微软雅黑"/>
              </a:rPr>
              <a:t>两个不同的目标</a:t>
            </a:r>
            <a:r>
              <a:rPr lang="en-US" b="false" i="false" strike="noStrike" u="none" sz="1400">
                <a:solidFill>
                  <a:srgbClr val="1E325A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</a:p>
          <a:p>
            <a:pPr algn="ctr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1E325A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</a:p>
          <a:p>
            <a:pPr algn="ctr" marL="0" indent="0">
              <a:lnSpc>
                <a:spcPct val="133333"/>
              </a:lnSpc>
            </a:pPr>
            <a:r>
              <a:rPr lang="en-US" b="true" i="false" strike="noStrike" u="none" sz="1400">
                <a:solidFill>
                  <a:srgbClr val="1E325A"/>
                </a:solidFill>
                <a:latin typeface="微软雅黑"/>
                <a:ea typeface="微软雅黑"/>
                <a:cs typeface="微软雅黑"/>
                <a:sym typeface="微软雅黑"/>
              </a:rPr>
              <a:t>分类准</a:t>
            </a:r>
            <a:r>
              <a:rPr lang="en-US" b="false" i="false" strike="noStrike" u="none" sz="1400">
                <a:solidFill>
                  <a:srgbClr val="1E325A"/>
                </a:solidFill>
                <a:latin typeface="微软雅黑"/>
                <a:ea typeface="微软雅黑"/>
                <a:cs typeface="微软雅黑"/>
                <a:sym typeface="微软雅黑"/>
              </a:rPr>
              <a:t> = 考试分数考得高</a:t>
            </a:r>
          </a:p>
          <a:p>
            <a:pPr algn="ctr" marL="0" indent="0">
              <a:lnSpc>
                <a:spcPct val="133333"/>
              </a:lnSpc>
            </a:pPr>
            <a:r>
              <a:rPr lang="en-US" b="true" i="false" strike="noStrike" u="none" sz="1400">
                <a:solidFill>
                  <a:srgbClr val="1E325A"/>
                </a:solidFill>
                <a:latin typeface="微软雅黑"/>
                <a:ea typeface="微软雅黑"/>
                <a:cs typeface="微软雅黑"/>
                <a:sym typeface="微软雅黑"/>
              </a:rPr>
              <a:t>自我评价准</a:t>
            </a:r>
            <a:r>
              <a:rPr lang="en-US" b="false" i="false" strike="noStrike" u="none" sz="1400">
                <a:solidFill>
                  <a:srgbClr val="1E325A"/>
                </a:solidFill>
                <a:latin typeface="微软雅黑"/>
                <a:ea typeface="微软雅黑"/>
                <a:cs typeface="微软雅黑"/>
                <a:sym typeface="微软雅黑"/>
              </a:rPr>
              <a:t> = 估分估得准（有"自知之明"）</a:t>
            </a:r>
          </a:p>
          <a:p>
            <a:pPr algn="ctr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1E325A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</a:p>
          <a:p>
            <a:pPr algn="ctr" marL="0" indent="0">
              <a:lnSpc>
                <a:spcPct val="133333"/>
              </a:lnSpc>
            </a:pPr>
            <a:r>
              <a:rPr lang="en-US" b="true" i="false" strike="noStrike" u="none" sz="1400">
                <a:solidFill>
                  <a:srgbClr val="2B65E8"/>
                </a:solidFill>
                <a:latin typeface="微软雅黑"/>
                <a:ea typeface="微软雅黑"/>
                <a:cs typeface="微软雅黑"/>
                <a:sym typeface="微软雅黑"/>
              </a:rPr>
              <a:t>校准目标</a:t>
            </a:r>
            <a:r>
              <a:rPr lang="en-US" b="false" i="false" strike="noStrike" u="none" sz="1400">
                <a:solidFill>
                  <a:srgbClr val="1E325A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</a:p>
          <a:p>
            <a:pPr algn="ctr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1E325A"/>
                </a:solidFill>
                <a:latin typeface="微软雅黑"/>
                <a:ea typeface="微软雅黑"/>
                <a:cs typeface="微软雅黑"/>
                <a:sym typeface="微软雅黑"/>
              </a:rPr>
              <a:t>让"自报置信度" ≈ "真实准确率"</a:t>
            </a:r>
          </a:p>
          <a:p>
            <a:pPr algn="ctr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1E325A"/>
                </a:solidFill>
                <a:latin typeface="微软雅黑"/>
                <a:ea typeface="微软雅黑"/>
                <a:cs typeface="微软雅黑"/>
                <a:sym typeface="微软雅黑"/>
              </a:rPr>
              <a:t>即校准点落在对角线上。</a:t>
            </a: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35000" y="5791200"/>
            <a:ext cx="10922000" cy="736600"/>
          </a:xfrm>
          <a:prstGeom prst="roundRect">
            <a:avLst>
              <a:gd name="adj" fmla="val 13793"/>
            </a:avLst>
          </a:prstGeom>
          <a:solidFill>
            <a:srgbClr val="FDEBEB">
              <a:alpha val="100000"/>
            </a:srgbClr>
          </a:solidFill>
          <a:ln w="12700" cmpd="sng" cap="flat">
            <a:solidFill>
              <a:srgbClr val="D22A28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D22A28"/>
                </a:solidFill>
                <a:latin typeface="微软雅黑"/>
                <a:ea typeface="微软雅黑"/>
                <a:cs typeface="微软雅黑"/>
                <a:sym typeface="微软雅黑"/>
              </a:rPr>
              <a:t>RLCD 训练的，正是这种"自我评价 / 置信度校准"能力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21" r="21" t="0" b="0"/>
          <a:stretch>
            <a:fillRect/>
          </a:stretch>
        </p:blipFill>
        <p:spPr>
          <a:xfrm rot="0" flipH="false" flipV="false">
            <a:off x="1016000" y="660400"/>
            <a:ext cx="10160000" cy="51689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 txBox="true"/>
          <p:nvPr/>
        </p:nvSpPr>
        <p:spPr>
          <a:xfrm rot="0" flipH="false" flipV="false">
            <a:off x="762000" y="60198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A5A5A"/>
                </a:solidFill>
                <a:latin typeface="微软雅黑"/>
                <a:ea typeface="微软雅黑"/>
                <a:cs typeface="微软雅黑"/>
                <a:sym typeface="微软雅黑"/>
              </a:rPr>
              <a:t>CIFAR-100 校准误差：LeNet（1998）44.9% → ResNet（2016）30.6%；越现代、校准越好的模型，置信度才越可用。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508000" y="355600"/>
            <a:ext cx="7112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1E1E1E"/>
                </a:solidFill>
                <a:latin typeface="微软雅黑"/>
                <a:ea typeface="微软雅黑"/>
                <a:cs typeface="微软雅黑"/>
                <a:sym typeface="微软雅黑"/>
              </a:rPr>
              <a:t>为什么 LLM 会过度自信？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508000" y="1016000"/>
            <a:ext cx="7112000" cy="508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282828"/>
                </a:solidFill>
                <a:latin typeface="微软雅黑"/>
                <a:ea typeface="微软雅黑"/>
                <a:cs typeface="微软雅黑"/>
                <a:sym typeface="微软雅黑"/>
              </a:rPr>
              <a:t>主流 LLM 的概率往往严重失真，普遍表现为</a:t>
            </a:r>
            <a:r>
              <a:rPr lang="en-US" b="true" i="false" strike="noStrike" u="none" sz="1400">
                <a:solidFill>
                  <a:srgbClr val="D22A28"/>
                </a:solidFill>
                <a:latin typeface="微软雅黑"/>
                <a:ea typeface="微软雅黑"/>
                <a:cs typeface="微软雅黑"/>
                <a:sym typeface="微软雅黑"/>
              </a:rPr>
              <a:t>过度自信</a:t>
            </a:r>
            <a:r>
              <a:rPr lang="en-US" b="false" i="false" strike="noStrike" u="none" sz="1400">
                <a:solidFill>
                  <a:srgbClr val="282828"/>
                </a:solidFill>
                <a:latin typeface="微软雅黑"/>
                <a:ea typeface="微软雅黑"/>
                <a:cs typeface="微软雅黑"/>
                <a:sym typeface="微软雅黑"/>
              </a:rPr>
              <a:t>，原因大概有三：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282828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2B65E8"/>
                </a:solidFill>
                <a:latin typeface="微软雅黑"/>
                <a:ea typeface="微软雅黑"/>
                <a:cs typeface="微软雅黑"/>
                <a:sym typeface="微软雅黑"/>
              </a:rPr>
              <a:t>1. 预训练目标</a:t>
            </a:r>
            <a:r>
              <a:rPr lang="en-US" b="false" i="false" strike="noStrike" u="none" sz="1400">
                <a:solidFill>
                  <a:srgbClr val="282828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282828"/>
                </a:solidFill>
                <a:latin typeface="微软雅黑"/>
                <a:ea typeface="微软雅黑"/>
                <a:cs typeface="微软雅黑"/>
                <a:sym typeface="微软雅黑"/>
              </a:rPr>
              <a:t>预训练只让"下一个 Token"出现的概率最大，不对当前业务判断的正确率负责。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282828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2B65E8"/>
                </a:solidFill>
                <a:latin typeface="微软雅黑"/>
                <a:ea typeface="微软雅黑"/>
                <a:cs typeface="微软雅黑"/>
                <a:sym typeface="微软雅黑"/>
              </a:rPr>
              <a:t>2. 泛化差距（OOD）</a:t>
            </a:r>
            <a:r>
              <a:rPr lang="en-US" b="false" i="false" strike="noStrike" u="none" sz="1400">
                <a:solidFill>
                  <a:srgbClr val="282828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282828"/>
                </a:solidFill>
                <a:latin typeface="微软雅黑"/>
                <a:ea typeface="微软雅黑"/>
                <a:cs typeface="微软雅黑"/>
                <a:sym typeface="微软雅黑"/>
              </a:rPr>
              <a:t>海量预训练得到的概率先验，无法直接迁移到没见过的分布外新问题上，难以准确自我评价。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282828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2B65E8"/>
                </a:solidFill>
                <a:latin typeface="微软雅黑"/>
                <a:ea typeface="微软雅黑"/>
                <a:cs typeface="微软雅黑"/>
                <a:sym typeface="微软雅黑"/>
              </a:rPr>
              <a:t>3. 后训练偏差（RLHF）</a:t>
            </a:r>
            <a:r>
              <a:rPr lang="en-US" b="false" i="false" strike="noStrike" u="none" sz="1400">
                <a:solidFill>
                  <a:srgbClr val="282828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282828"/>
                </a:solidFill>
                <a:latin typeface="微软雅黑"/>
                <a:ea typeface="微软雅黑"/>
                <a:cs typeface="微软雅黑"/>
                <a:sym typeface="微软雅黑"/>
              </a:rPr>
              <a:t>奖励函数只看"答案对不对"，只要答案符合预期就提高概率，置信度容易沦为"奖励投机"。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0" r="0" t="76" b="76"/>
          <a:stretch>
            <a:fillRect/>
          </a:stretch>
        </p:blipFill>
        <p:spPr>
          <a:xfrm rot="0" flipH="false" flipV="false">
            <a:off x="8229600" y="1524000"/>
            <a:ext cx="3251200" cy="304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" id="5"/>
          <p:cNvSpPr txBox="true"/>
          <p:nvPr/>
        </p:nvSpPr>
        <p:spPr>
          <a:xfrm rot="0" flipH="false" flipV="false">
            <a:off x="7874000" y="4724400"/>
            <a:ext cx="39624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5A5A5A"/>
                </a:solidFill>
                <a:latin typeface="微软雅黑"/>
                <a:ea typeface="微软雅黑"/>
                <a:cs typeface="微软雅黑"/>
                <a:sym typeface="微软雅黑"/>
              </a:rPr>
              <a:t>The Overconfident LLM</a:t>
            </a:r>
            <a:endParaRPr lang="en-US" sz="1100"/>
          </a:p>
          <a:p>
            <a:pPr algn="ctr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5A5A5A"/>
                </a:solidFill>
                <a:latin typeface="微软雅黑"/>
                <a:ea typeface="微软雅黑"/>
                <a:cs typeface="微软雅黑"/>
                <a:sym typeface="微软雅黑"/>
              </a:rPr>
              <a:t>动辄给出 99% 的把握，却常常答错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318250"/>
            <a:ext cx="1524000" cy="539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